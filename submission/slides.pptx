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Mug placed within 1.5 cm</a:t>
            </a:r>
          </a:p>
        </c:rich>
      </c:tx>
      <c:layout/>
      <c:overlay val="0"/>
    </c:title>
    <c:autoTitleDeleted val="0"/>
    <c:plotArea>
      <c:layout/>
      <c:barChart>
        <c:barDir val="col"/>
        <c:grouping val="clustered"/>
        <c:varyColors val="0"/>
        <c:ser>
          <c:idx val="0"/>
          <c:order val="0"/>
          <c:tx>
            <c:strRef>
              <c:f>Sheet1!$B$1</c:f>
              <c:strCache>
                <c:ptCount val="1"/>
                <c:pt idx="0">
                  <c:v>Success</c:v>
                </c:pt>
              </c:strCache>
            </c:strRef>
          </c:tx>
          <c:spPr>
            <a:solidFill>
              <a:srgbClr val="E8B923"/>
            </a:solidFill>
            <a:effectLst/>
          </c:spPr>
          <c:invertIfNegative val="0"/>
          <c:dLbls>
            <c:numFmt formatCode="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Sheet1!$A$2:$A$8</c:f>
              <c:multiLvlStrCache>
                <c:ptCount val="7"/>
                <c:lvl>
                  <c:pt idx="0">
                    <c:v>v1</c:v>
                  </c:pt>
                  <c:pt idx="1">
                    <c:v>v2</c:v>
                  </c:pt>
                  <c:pt idx="2">
                    <c:v>v3</c:v>
                  </c:pt>
                  <c:pt idx="3">
                    <c:v>v4</c:v>
                  </c:pt>
                  <c:pt idx="4">
                    <c:v>v5</c:v>
                  </c:pt>
                  <c:pt idx="5">
                    <c:v>v6</c:v>
                  </c:pt>
                  <c:pt idx="6">
                    <c:v>v7</c:v>
                  </c:pt>
                </c:lvl>
              </c:multiLvlStrCache>
            </c:multiLvlStrRef>
          </c:cat>
          <c:val>
            <c:numRef>
              <c:f>Sheet1!$B$2:$B$8</c:f>
              <c:numCache>
                <c:formatCode>General</c:formatCode>
                <c:ptCount val="7"/>
                <c:pt idx="0">
                  <c:v>5</c:v>
                </c:pt>
                <c:pt idx="1">
                  <c:v>10</c:v>
                </c:pt>
                <c:pt idx="2">
                  <c:v>10</c:v>
                </c:pt>
                <c:pt idx="3">
                  <c:v>0</c:v>
                </c:pt>
                <c:pt idx="4">
                  <c:v>10</c:v>
                </c:pt>
                <c:pt idx="5">
                  <c:v>20</c:v>
                </c:pt>
                <c:pt idx="6">
                  <c:v>95</c:v>
                </c:pt>
              </c:numCache>
            </c:numRef>
          </c:val>
        </c:ser>
        <c:dLbls>
          <c:numFmt formatCode="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E374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ACT policy, CPU, ms per call (lower is better)</a:t>
            </a:r>
          </a:p>
        </c:rich>
      </c:tx>
      <c:layout/>
      <c:overlay val="0"/>
    </c:title>
    <c:autoTitleDeleted val="0"/>
    <c:plotArea>
      <c:layout/>
      <c:barChart>
        <c:barDir val="bar"/>
        <c:grouping val="clustered"/>
        <c:varyColors val="0"/>
        <c:ser>
          <c:idx val="0"/>
          <c:order val="0"/>
          <c:tx>
            <c:strRef>
              <c:f>Sheet1!$B$1</c:f>
              <c:strCache>
                <c:ptCount val="1"/>
                <c:pt idx="0">
                  <c:v>ms</c:v>
                </c:pt>
              </c:strCache>
            </c:strRef>
          </c:tx>
          <c:spPr>
            <a:solidFill>
              <a:srgbClr val="E8B923"/>
            </a:solidFill>
            <a:effectLst/>
          </c:spPr>
          <c:invertIfNegative val="0"/>
          <c:dLbls>
            <c:numFmt formatCode="0.00&quot; ms&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INT8 weights</c:v>
                  </c:pt>
                  <c:pt idx="1">
                    <c:v>OpenVINO INT8</c:v>
                  </c:pt>
                  <c:pt idx="2">
                    <c:v>OpenVINO FP16</c:v>
                  </c:pt>
                  <c:pt idx="3">
                    <c:v>OpenVINO FP32</c:v>
                  </c:pt>
                  <c:pt idx="4">
                    <c:v>PyTorch FP32</c:v>
                  </c:pt>
                </c:lvl>
              </c:multiLvlStrCache>
            </c:multiLvlStrRef>
          </c:cat>
          <c:val>
            <c:numRef>
              <c:f>Sheet1!$B$2:$B$6</c:f>
              <c:numCache>
                <c:formatCode>General</c:formatCode>
                <c:ptCount val="5"/>
                <c:pt idx="0">
                  <c:v>3.53</c:v>
                </c:pt>
                <c:pt idx="1">
                  <c:v>3.68</c:v>
                </c:pt>
                <c:pt idx="2">
                  <c:v>1.88</c:v>
                </c:pt>
                <c:pt idx="3">
                  <c:v>1.73</c:v>
                </c:pt>
                <c:pt idx="4">
                  <c:v>4.34</c:v>
                </c:pt>
              </c:numCache>
            </c:numRef>
          </c:val>
        </c:ser>
        <c:dLbls>
          <c:numFmt formatCode="0.00&quot; ms&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FFFFF"/>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E374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robot arms that set a dinner table when you tell them to. They look at the table with a camera, understand the command with a vision-language model, hand things to each other, and fix their own mistakes. Everything runs on a five-year-old Intel laptop with OpenVINO: no graphics card, no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sets the table correctly on 30 out of 30 random tables, and 29 out of 30 when we make it harder by moving things further and changing their sizes and colours. Success is always judged against where objects really are in the simulator, not against what the robot thinks.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Service robots in homes, hospitals, hotels and restaurants need exactly this combination: anyone can tell them what to do in plain language, they can use two hands, and they check their own work. And it's cheap: it runs on an ordinary laptop, and the skills teach themselves from demonstrations the robot records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in a loop. The camera image is the only way the robot learns where things are. The vision-language model turns the command into goals, the planner decides who does what, the arms act, and after every item the robot looks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Cutlery often starts on the wrong arm's side, so the arms pass it across: one holds an end, the other takes the other end. And the robot checks its own work. Here we knock the plate out of place halfway through: it notices and fixes it before carrying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recording examples by hand, our scripted skills acted as the teacher and recorded over a thousand perfect demonstrations automatically, keeping only the successes. The first six versions failed, and each failure taught us something. Version seven places the mug correctly 95 percent of the time on tables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OpenVINO makes our trained policy two and a half times faster on the laptop CPU, and the robot still succeeds just as often. For a model this small, INT8 and the integrated GPU don't pay off, and we say so. The vision-language model went from thirty seconds to four seconds per command, and the integrated GPU halves the time for large pictures.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open source and seeded, so every number in this deck can be reproduced with one command. We're upfront about what's missing: a Core Ultra and NPU run, more learned skills, and the drawer and pouring.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B22"/>
        </a:solidFill>
      </p:bgPr>
    </p:bg>
    <p:spTree>
      <p:nvGrpSpPr>
        <p:cNvPr id="1" name=""/>
        <p:cNvGrpSpPr/>
        <p:nvPr/>
      </p:nvGrpSpPr>
      <p:grpSpPr>
        <a:xfrm>
          <a:off x="0" y="0"/>
          <a:ext cx="0" cy="0"/>
          <a:chOff x="0" y="0"/>
          <a:chExt cx="0" cy="0"/>
        </a:xfrm>
      </p:grpSpPr>
      <p:pic>
        <p:nvPicPr>
          <p:cNvPr id="2" name="Image 0" descr="C:\DriveSync\Creative\hackathons\ai-infra-summit-2026\submission\cover.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411480" y="228600"/>
            <a:ext cx="8229600" cy="320040"/>
          </a:xfrm>
          <a:prstGeom prst="rect">
            <a:avLst/>
          </a:prstGeom>
          <a:noFill/>
          <a:ln/>
        </p:spPr>
        <p:txBody>
          <a:bodyPr wrap="square" lIns="0" tIns="0" rIns="0" bIns="0" rtlCol="0" anchor="ctr"/>
          <a:lstStyle/>
          <a:p>
            <a:pPr indent="0" marL="0">
              <a:buNone/>
            </a:pPr>
            <a:r>
              <a:rPr lang="en-US" sz="1300" dirty="0">
                <a:solidFill>
                  <a:srgbClr val="9AA7B5"/>
                </a:solidFill>
                <a:latin typeface="Calibri" pitchFamily="34" charset="0"/>
                <a:ea typeface="Calibri" pitchFamily="34" charset="-122"/>
                <a:cs typeface="Calibri" pitchFamily="34" charset="-120"/>
              </a:rPr>
              <a:t>AI Infra Summit Hackathon · Intel online track · Bimanual VLA manipulation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One command. Two hands. A set table.</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Tested the way Intel asked: random tables, success checked against simulator truth</a:t>
            </a:r>
            <a:endParaRPr lang="en-US" sz="1400" dirty="0"/>
          </a:p>
        </p:txBody>
      </p:sp>
      <p:sp>
        <p:nvSpPr>
          <p:cNvPr id="4" name="Text 2"/>
          <p:cNvSpPr txBox="1"/>
          <p:nvPr/>
        </p:nvSpPr>
        <p:spPr>
          <a:xfrm>
            <a:off x="457200" y="1371600"/>
            <a:ext cx="3749040" cy="31089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Say or type what you want</a:t>
            </a:r>
            <a:endParaRPr lang="en-US" sz="1600" dirty="0"/>
          </a:p>
          <a:p>
            <a:pPr indent="0" marL="0">
              <a:buNone/>
            </a:pPr>
            <a:r>
              <a:rPr lang="en-US" sz="1600" i="1" dirty="0">
                <a:solidFill>
                  <a:srgbClr val="9AA7B5"/>
                </a:solidFill>
                <a:latin typeface="Calibri" pitchFamily="34" charset="0"/>
                <a:ea typeface="Calibri" pitchFamily="34" charset="-122"/>
                <a:cs typeface="Calibri" pitchFamily="34" charset="-120"/>
              </a:rPr>
              <a:t>"put the red thing top left of the plate and the grey utensil on the right"</a:t>
            </a:r>
            <a:endParaRPr lang="en-US" sz="1600" dirty="0"/>
          </a:p>
          <a:p>
            <a:pPr indent="0" marL="0">
              <a:buNone/>
            </a:pPr>
            <a:r>
              <a:rPr lang="en-US" sz="16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FFFFFF"/>
                </a:solidFill>
                <a:latin typeface="Calibri" pitchFamily="34" charset="0"/>
                <a:ea typeface="Calibri" pitchFamily="34" charset="-122"/>
                <a:cs typeface="Calibri" pitchFamily="34" charset="-120"/>
              </a:rPr>
              <a:t>The robot works out the rest</a:t>
            </a:r>
            <a:endParaRPr lang="en-US" sz="1600" dirty="0"/>
          </a:p>
          <a:p>
            <a:pPr indent="0" marL="0">
              <a:buNone/>
            </a:pPr>
            <a:r>
              <a:rPr lang="en-US" sz="1600" dirty="0">
                <a:solidFill>
                  <a:srgbClr val="9AA7B5"/>
                </a:solidFill>
                <a:latin typeface="Calibri" pitchFamily="34" charset="0"/>
                <a:ea typeface="Calibri" pitchFamily="34" charset="-122"/>
                <a:cs typeface="Calibri" pitchFamily="34" charset="-120"/>
              </a:rPr>
              <a:t>which item is meant, which arm, when to pass an item across, what to do first — and checks every step with its camera</a:t>
            </a:r>
            <a:endParaRPr lang="en-US" sz="1600" dirty="0"/>
          </a:p>
        </p:txBody>
      </p:sp>
      <p:sp>
        <p:nvSpPr>
          <p:cNvPr id="5" name="Shape 3"/>
          <p:cNvSpPr/>
          <p:nvPr/>
        </p:nvSpPr>
        <p:spPr>
          <a:xfrm>
            <a:off x="4572000" y="1325880"/>
            <a:ext cx="1920240" cy="1417320"/>
          </a:xfrm>
          <a:prstGeom prst="roundRect">
            <a:avLst>
              <a:gd name="adj" fmla="val 5161"/>
            </a:avLst>
          </a:prstGeom>
          <a:solidFill>
            <a:srgbClr val="222A35"/>
          </a:solidFill>
          <a:ln w="12700">
            <a:solidFill>
              <a:srgbClr val="222A35"/>
            </a:solidFill>
            <a:prstDash val="solid"/>
          </a:ln>
        </p:spPr>
      </p:sp>
      <p:sp>
        <p:nvSpPr>
          <p:cNvPr id="6" name="Text 4"/>
          <p:cNvSpPr txBox="1"/>
          <p:nvPr/>
        </p:nvSpPr>
        <p:spPr>
          <a:xfrm>
            <a:off x="4572000" y="14356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30/30</a:t>
            </a:r>
            <a:endParaRPr lang="en-US" sz="3600" dirty="0"/>
          </a:p>
        </p:txBody>
      </p:sp>
      <p:sp>
        <p:nvSpPr>
          <p:cNvPr id="7" name="Text 5"/>
          <p:cNvSpPr txBox="1"/>
          <p:nvPr/>
        </p:nvSpPr>
        <p:spPr>
          <a:xfrm>
            <a:off x="4681728" y="21305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tables set correctly</a:t>
            </a:r>
            <a:endParaRPr lang="en-US" sz="1200" dirty="0"/>
          </a:p>
        </p:txBody>
      </p:sp>
      <p:sp>
        <p:nvSpPr>
          <p:cNvPr id="8" name="Shape 6"/>
          <p:cNvSpPr/>
          <p:nvPr/>
        </p:nvSpPr>
        <p:spPr>
          <a:xfrm>
            <a:off x="6675120" y="1325880"/>
            <a:ext cx="1920240" cy="1417320"/>
          </a:xfrm>
          <a:prstGeom prst="roundRect">
            <a:avLst>
              <a:gd name="adj" fmla="val 5161"/>
            </a:avLst>
          </a:prstGeom>
          <a:solidFill>
            <a:srgbClr val="222A35"/>
          </a:solidFill>
          <a:ln w="12700">
            <a:solidFill>
              <a:srgbClr val="222A35"/>
            </a:solidFill>
            <a:prstDash val="solid"/>
          </a:ln>
        </p:spPr>
      </p:sp>
      <p:sp>
        <p:nvSpPr>
          <p:cNvPr id="9" name="Text 7"/>
          <p:cNvSpPr txBox="1"/>
          <p:nvPr/>
        </p:nvSpPr>
        <p:spPr>
          <a:xfrm>
            <a:off x="6675120" y="14356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29/30</a:t>
            </a:r>
            <a:endParaRPr lang="en-US" sz="3600" dirty="0"/>
          </a:p>
        </p:txBody>
      </p:sp>
      <p:sp>
        <p:nvSpPr>
          <p:cNvPr id="10" name="Text 8"/>
          <p:cNvSpPr txBox="1"/>
          <p:nvPr/>
        </p:nvSpPr>
        <p:spPr>
          <a:xfrm>
            <a:off x="6784848" y="21305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harder tables: positions, sizes, colours</a:t>
            </a:r>
            <a:endParaRPr lang="en-US" sz="1200" dirty="0"/>
          </a:p>
        </p:txBody>
      </p:sp>
      <p:sp>
        <p:nvSpPr>
          <p:cNvPr id="11" name="Shape 9"/>
          <p:cNvSpPr/>
          <p:nvPr/>
        </p:nvSpPr>
        <p:spPr>
          <a:xfrm>
            <a:off x="4572000" y="2926080"/>
            <a:ext cx="1920240" cy="1417320"/>
          </a:xfrm>
          <a:prstGeom prst="roundRect">
            <a:avLst>
              <a:gd name="adj" fmla="val 5161"/>
            </a:avLst>
          </a:prstGeom>
          <a:solidFill>
            <a:srgbClr val="222A35"/>
          </a:solidFill>
          <a:ln w="12700">
            <a:solidFill>
              <a:srgbClr val="222A35"/>
            </a:solidFill>
            <a:prstDash val="solid"/>
          </a:ln>
        </p:spPr>
      </p:sp>
      <p:sp>
        <p:nvSpPr>
          <p:cNvPr id="12" name="Text 10"/>
          <p:cNvSpPr txBox="1"/>
          <p:nvPr/>
        </p:nvSpPr>
        <p:spPr>
          <a:xfrm>
            <a:off x="4572000" y="30358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95%</a:t>
            </a:r>
            <a:endParaRPr lang="en-US" sz="3600" dirty="0"/>
          </a:p>
        </p:txBody>
      </p:sp>
      <p:sp>
        <p:nvSpPr>
          <p:cNvPr id="13" name="Text 11"/>
          <p:cNvSpPr txBox="1"/>
          <p:nvPr/>
        </p:nvSpPr>
        <p:spPr>
          <a:xfrm>
            <a:off x="4681728" y="37307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trained ACT policy on unseen tables</a:t>
            </a:r>
            <a:endParaRPr lang="en-US" sz="1200" dirty="0"/>
          </a:p>
        </p:txBody>
      </p:sp>
      <p:sp>
        <p:nvSpPr>
          <p:cNvPr id="14" name="Shape 12"/>
          <p:cNvSpPr/>
          <p:nvPr/>
        </p:nvSpPr>
        <p:spPr>
          <a:xfrm>
            <a:off x="6675120" y="2926080"/>
            <a:ext cx="1920240" cy="1417320"/>
          </a:xfrm>
          <a:prstGeom prst="roundRect">
            <a:avLst>
              <a:gd name="adj" fmla="val 5161"/>
            </a:avLst>
          </a:prstGeom>
          <a:solidFill>
            <a:srgbClr val="222A35"/>
          </a:solidFill>
          <a:ln w="12700">
            <a:solidFill>
              <a:srgbClr val="222A35"/>
            </a:solidFill>
            <a:prstDash val="solid"/>
          </a:ln>
        </p:spPr>
      </p:sp>
      <p:sp>
        <p:nvSpPr>
          <p:cNvPr id="15" name="Text 13"/>
          <p:cNvSpPr txBox="1"/>
          <p:nvPr/>
        </p:nvSpPr>
        <p:spPr>
          <a:xfrm>
            <a:off x="6675120" y="30358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~4 s</a:t>
            </a:r>
            <a:endParaRPr lang="en-US" sz="3600" dirty="0"/>
          </a:p>
        </p:txBody>
      </p:sp>
      <p:sp>
        <p:nvSpPr>
          <p:cNvPr id="16" name="Text 14"/>
          <p:cNvSpPr txBox="1"/>
          <p:nvPr/>
        </p:nvSpPr>
        <p:spPr>
          <a:xfrm>
            <a:off x="6784848" y="37307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to understand a command (was 30 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Why it matters</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Service robots for homes, hospitals, hotels and restaurants</a:t>
            </a:r>
            <a:endParaRPr lang="en-US" sz="1400" dirty="0"/>
          </a:p>
        </p:txBody>
      </p:sp>
      <p:sp>
        <p:nvSpPr>
          <p:cNvPr id="4" name="Shape 2"/>
          <p:cNvSpPr/>
          <p:nvPr/>
        </p:nvSpPr>
        <p:spPr>
          <a:xfrm>
            <a:off x="457200" y="1325880"/>
            <a:ext cx="4023360" cy="1600200"/>
          </a:xfrm>
          <a:prstGeom prst="roundRect">
            <a:avLst>
              <a:gd name="adj" fmla="val 4571"/>
            </a:avLst>
          </a:prstGeom>
          <a:solidFill>
            <a:srgbClr val="222A35"/>
          </a:solidFill>
          <a:ln w="12700">
            <a:solidFill>
              <a:srgbClr val="222A35"/>
            </a:solidFill>
            <a:prstDash val="solid"/>
          </a:ln>
        </p:spPr>
      </p:sp>
      <p:sp>
        <p:nvSpPr>
          <p:cNvPr id="5" name="Shape 3"/>
          <p:cNvSpPr/>
          <p:nvPr/>
        </p:nvSpPr>
        <p:spPr>
          <a:xfrm>
            <a:off x="685800" y="1581912"/>
            <a:ext cx="365760" cy="365760"/>
          </a:xfrm>
          <a:prstGeom prst="ellipse">
            <a:avLst/>
          </a:prstGeom>
          <a:solidFill>
            <a:srgbClr val="E8B923"/>
          </a:solidFill>
          <a:ln w="12700">
            <a:solidFill>
              <a:srgbClr val="E8B923"/>
            </a:solidFill>
            <a:prstDash val="solid"/>
          </a:ln>
        </p:spPr>
      </p:sp>
      <p:sp>
        <p:nvSpPr>
          <p:cNvPr id="6" name="Text 4"/>
          <p:cNvSpPr txBox="1"/>
          <p:nvPr/>
        </p:nvSpPr>
        <p:spPr>
          <a:xfrm>
            <a:off x="685800" y="158191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188720" y="158191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Anyone can instruct it</a:t>
            </a:r>
            <a:endParaRPr lang="en-US" sz="1600" dirty="0"/>
          </a:p>
        </p:txBody>
      </p:sp>
      <p:sp>
        <p:nvSpPr>
          <p:cNvPr id="8" name="Text 6"/>
          <p:cNvSpPr txBox="1"/>
          <p:nvPr/>
        </p:nvSpPr>
        <p:spPr>
          <a:xfrm>
            <a:off x="1188720" y="198424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Plain language, spoken or typed. No programming, no app, no fixed commands.</a:t>
            </a:r>
            <a:endParaRPr lang="en-US" sz="1300" dirty="0"/>
          </a:p>
        </p:txBody>
      </p:sp>
      <p:sp>
        <p:nvSpPr>
          <p:cNvPr id="9" name="Shape 7"/>
          <p:cNvSpPr/>
          <p:nvPr/>
        </p:nvSpPr>
        <p:spPr>
          <a:xfrm>
            <a:off x="4663440" y="1325880"/>
            <a:ext cx="4023360" cy="1600200"/>
          </a:xfrm>
          <a:prstGeom prst="roundRect">
            <a:avLst>
              <a:gd name="adj" fmla="val 4571"/>
            </a:avLst>
          </a:prstGeom>
          <a:solidFill>
            <a:srgbClr val="222A35"/>
          </a:solidFill>
          <a:ln w="12700">
            <a:solidFill>
              <a:srgbClr val="222A35"/>
            </a:solidFill>
            <a:prstDash val="solid"/>
          </a:ln>
        </p:spPr>
      </p:sp>
      <p:sp>
        <p:nvSpPr>
          <p:cNvPr id="10" name="Shape 8"/>
          <p:cNvSpPr/>
          <p:nvPr/>
        </p:nvSpPr>
        <p:spPr>
          <a:xfrm>
            <a:off x="4892040" y="1581912"/>
            <a:ext cx="365760" cy="365760"/>
          </a:xfrm>
          <a:prstGeom prst="ellipse">
            <a:avLst/>
          </a:prstGeom>
          <a:solidFill>
            <a:srgbClr val="E8B923"/>
          </a:solidFill>
          <a:ln w="12700">
            <a:solidFill>
              <a:srgbClr val="E8B923"/>
            </a:solidFill>
            <a:prstDash val="solid"/>
          </a:ln>
        </p:spPr>
      </p:sp>
      <p:sp>
        <p:nvSpPr>
          <p:cNvPr id="11" name="Text 9"/>
          <p:cNvSpPr txBox="1"/>
          <p:nvPr/>
        </p:nvSpPr>
        <p:spPr>
          <a:xfrm>
            <a:off x="4892040" y="158191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5394960" y="158191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Two hands, real tasks</a:t>
            </a:r>
            <a:endParaRPr lang="en-US" sz="1600" dirty="0"/>
          </a:p>
        </p:txBody>
      </p:sp>
      <p:sp>
        <p:nvSpPr>
          <p:cNvPr id="13" name="Text 11"/>
          <p:cNvSpPr txBox="1"/>
          <p:nvPr/>
        </p:nvSpPr>
        <p:spPr>
          <a:xfrm>
            <a:off x="5394960" y="198424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Passing, holding and placing — the everyday handling that one-armed robots can't do.</a:t>
            </a:r>
            <a:endParaRPr lang="en-US" sz="1300" dirty="0"/>
          </a:p>
        </p:txBody>
      </p:sp>
      <p:sp>
        <p:nvSpPr>
          <p:cNvPr id="14" name="Shape 12"/>
          <p:cNvSpPr/>
          <p:nvPr/>
        </p:nvSpPr>
        <p:spPr>
          <a:xfrm>
            <a:off x="457200" y="3108960"/>
            <a:ext cx="4023360" cy="1600200"/>
          </a:xfrm>
          <a:prstGeom prst="roundRect">
            <a:avLst>
              <a:gd name="adj" fmla="val 4571"/>
            </a:avLst>
          </a:prstGeom>
          <a:solidFill>
            <a:srgbClr val="222A35"/>
          </a:solidFill>
          <a:ln w="12700">
            <a:solidFill>
              <a:srgbClr val="222A35"/>
            </a:solidFill>
            <a:prstDash val="solid"/>
          </a:ln>
        </p:spPr>
      </p:sp>
      <p:sp>
        <p:nvSpPr>
          <p:cNvPr id="15" name="Shape 13"/>
          <p:cNvSpPr/>
          <p:nvPr/>
        </p:nvSpPr>
        <p:spPr>
          <a:xfrm>
            <a:off x="685800" y="3364992"/>
            <a:ext cx="365760" cy="365760"/>
          </a:xfrm>
          <a:prstGeom prst="ellipse">
            <a:avLst/>
          </a:prstGeom>
          <a:solidFill>
            <a:srgbClr val="E8B923"/>
          </a:solidFill>
          <a:ln w="12700">
            <a:solidFill>
              <a:srgbClr val="E8B923"/>
            </a:solidFill>
            <a:prstDash val="solid"/>
          </a:ln>
        </p:spPr>
      </p:sp>
      <p:sp>
        <p:nvSpPr>
          <p:cNvPr id="16" name="Text 14"/>
          <p:cNvSpPr txBox="1"/>
          <p:nvPr/>
        </p:nvSpPr>
        <p:spPr>
          <a:xfrm>
            <a:off x="685800" y="336499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188720" y="336499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Checks its own work</a:t>
            </a:r>
            <a:endParaRPr lang="en-US" sz="1600" dirty="0"/>
          </a:p>
        </p:txBody>
      </p:sp>
      <p:sp>
        <p:nvSpPr>
          <p:cNvPr id="18" name="Text 16"/>
          <p:cNvSpPr txBox="1"/>
          <p:nvPr/>
        </p:nvSpPr>
        <p:spPr>
          <a:xfrm>
            <a:off x="1188720" y="376732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A bump or a slip is noticed and fixed, so a job gets finished without a person watching.</a:t>
            </a:r>
            <a:endParaRPr lang="en-US" sz="1300" dirty="0"/>
          </a:p>
        </p:txBody>
      </p:sp>
      <p:sp>
        <p:nvSpPr>
          <p:cNvPr id="19" name="Shape 17"/>
          <p:cNvSpPr/>
          <p:nvPr/>
        </p:nvSpPr>
        <p:spPr>
          <a:xfrm>
            <a:off x="4663440" y="3108960"/>
            <a:ext cx="4023360" cy="1600200"/>
          </a:xfrm>
          <a:prstGeom prst="roundRect">
            <a:avLst>
              <a:gd name="adj" fmla="val 4571"/>
            </a:avLst>
          </a:prstGeom>
          <a:solidFill>
            <a:srgbClr val="222A35"/>
          </a:solidFill>
          <a:ln w="12700">
            <a:solidFill>
              <a:srgbClr val="222A35"/>
            </a:solidFill>
            <a:prstDash val="solid"/>
          </a:ln>
        </p:spPr>
      </p:sp>
      <p:sp>
        <p:nvSpPr>
          <p:cNvPr id="20" name="Shape 18"/>
          <p:cNvSpPr/>
          <p:nvPr/>
        </p:nvSpPr>
        <p:spPr>
          <a:xfrm>
            <a:off x="4892040" y="3364992"/>
            <a:ext cx="365760" cy="365760"/>
          </a:xfrm>
          <a:prstGeom prst="ellipse">
            <a:avLst/>
          </a:prstGeom>
          <a:solidFill>
            <a:srgbClr val="E8B923"/>
          </a:solidFill>
          <a:ln w="12700">
            <a:solidFill>
              <a:srgbClr val="E8B923"/>
            </a:solidFill>
            <a:prstDash val="solid"/>
          </a:ln>
        </p:spPr>
      </p:sp>
      <p:sp>
        <p:nvSpPr>
          <p:cNvPr id="21" name="Text 19"/>
          <p:cNvSpPr txBox="1"/>
          <p:nvPr/>
        </p:nvSpPr>
        <p:spPr>
          <a:xfrm>
            <a:off x="4892040" y="336499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5394960" y="336499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Cheap to run and to teach</a:t>
            </a:r>
            <a:endParaRPr lang="en-US" sz="1600" dirty="0"/>
          </a:p>
        </p:txBody>
      </p:sp>
      <p:sp>
        <p:nvSpPr>
          <p:cNvPr id="23" name="Text 21"/>
          <p:cNvSpPr txBox="1"/>
          <p:nvPr/>
        </p:nvSpPr>
        <p:spPr>
          <a:xfrm>
            <a:off x="5394960" y="376732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Runs on an ordinary Intel laptop with OpenVINO. Skills teach themselves from auto-recorded demos — no hand-collected data.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Observe, understand, plan, act, look again</a:t>
            </a:r>
            <a:endParaRPr lang="en-US" sz="3000" dirty="0"/>
          </a:p>
        </p:txBody>
      </p:sp>
      <p:sp>
        <p:nvSpPr>
          <p:cNvPr id="3" name="Shape 1"/>
          <p:cNvSpPr/>
          <p:nvPr/>
        </p:nvSpPr>
        <p:spPr>
          <a:xfrm>
            <a:off x="457200" y="1143000"/>
            <a:ext cx="384048" cy="384048"/>
          </a:xfrm>
          <a:prstGeom prst="ellipse">
            <a:avLst/>
          </a:prstGeom>
          <a:solidFill>
            <a:srgbClr val="E8B923"/>
          </a:solidFill>
          <a:ln w="12700">
            <a:solidFill>
              <a:srgbClr val="E8B923"/>
            </a:solidFill>
            <a:prstDash val="solid"/>
          </a:ln>
        </p:spPr>
      </p:sp>
      <p:sp>
        <p:nvSpPr>
          <p:cNvPr id="4" name="Text 2"/>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457200"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Observe</a:t>
            </a:r>
            <a:endParaRPr lang="en-US" sz="1500" dirty="0"/>
          </a:p>
        </p:txBody>
      </p:sp>
      <p:sp>
        <p:nvSpPr>
          <p:cNvPr id="6" name="Text 4"/>
          <p:cNvSpPr txBox="1"/>
          <p:nvPr/>
        </p:nvSpPr>
        <p:spPr>
          <a:xfrm>
            <a:off x="457200"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overhead colour + depth camera finds every object</a:t>
            </a:r>
            <a:endParaRPr lang="en-US" sz="1200" dirty="0"/>
          </a:p>
        </p:txBody>
      </p:sp>
      <p:sp>
        <p:nvSpPr>
          <p:cNvPr id="7" name="Shape 5"/>
          <p:cNvSpPr/>
          <p:nvPr/>
        </p:nvSpPr>
        <p:spPr>
          <a:xfrm>
            <a:off x="2121408" y="1143000"/>
            <a:ext cx="384048" cy="384048"/>
          </a:xfrm>
          <a:prstGeom prst="ellipse">
            <a:avLst/>
          </a:prstGeom>
          <a:solidFill>
            <a:srgbClr val="E8B923"/>
          </a:solidFill>
          <a:ln w="12700">
            <a:solidFill>
              <a:srgbClr val="E8B923"/>
            </a:solidFill>
            <a:prstDash val="solid"/>
          </a:ln>
        </p:spPr>
      </p:sp>
      <p:sp>
        <p:nvSpPr>
          <p:cNvPr id="8" name="Text 6"/>
          <p:cNvSpPr txBox="1"/>
          <p:nvPr/>
        </p:nvSpPr>
        <p:spPr>
          <a:xfrm>
            <a:off x="2121408"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2121408"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Understand</a:t>
            </a:r>
            <a:endParaRPr lang="en-US" sz="1500" dirty="0"/>
          </a:p>
        </p:txBody>
      </p:sp>
      <p:sp>
        <p:nvSpPr>
          <p:cNvPr id="10" name="Text 8"/>
          <p:cNvSpPr txBox="1"/>
          <p:nvPr/>
        </p:nvSpPr>
        <p:spPr>
          <a:xfrm>
            <a:off x="2121408"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Qwen3-VL-4B on OpenVINO reads the command and the picture</a:t>
            </a:r>
            <a:endParaRPr lang="en-US" sz="1200" dirty="0"/>
          </a:p>
        </p:txBody>
      </p:sp>
      <p:sp>
        <p:nvSpPr>
          <p:cNvPr id="11" name="Shape 9"/>
          <p:cNvSpPr/>
          <p:nvPr/>
        </p:nvSpPr>
        <p:spPr>
          <a:xfrm>
            <a:off x="3785616" y="1143000"/>
            <a:ext cx="384048" cy="384048"/>
          </a:xfrm>
          <a:prstGeom prst="ellipse">
            <a:avLst/>
          </a:prstGeom>
          <a:solidFill>
            <a:srgbClr val="E8B923"/>
          </a:solidFill>
          <a:ln w="12700">
            <a:solidFill>
              <a:srgbClr val="E8B923"/>
            </a:solidFill>
            <a:prstDash val="solid"/>
          </a:ln>
        </p:spPr>
      </p:sp>
      <p:sp>
        <p:nvSpPr>
          <p:cNvPr id="12" name="Text 10"/>
          <p:cNvSpPr txBox="1"/>
          <p:nvPr/>
        </p:nvSpPr>
        <p:spPr>
          <a:xfrm>
            <a:off x="3785616"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3" name="Text 11"/>
          <p:cNvSpPr txBox="1"/>
          <p:nvPr/>
        </p:nvSpPr>
        <p:spPr>
          <a:xfrm>
            <a:off x="3785616"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14" name="Text 12"/>
          <p:cNvSpPr txBox="1"/>
          <p:nvPr/>
        </p:nvSpPr>
        <p:spPr>
          <a:xfrm>
            <a:off x="3785616"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which arm, hand-off or set-down swap, what first</a:t>
            </a:r>
            <a:endParaRPr lang="en-US" sz="1200" dirty="0"/>
          </a:p>
        </p:txBody>
      </p:sp>
      <p:sp>
        <p:nvSpPr>
          <p:cNvPr id="15" name="Shape 13"/>
          <p:cNvSpPr/>
          <p:nvPr/>
        </p:nvSpPr>
        <p:spPr>
          <a:xfrm>
            <a:off x="5449824" y="1143000"/>
            <a:ext cx="384048" cy="384048"/>
          </a:xfrm>
          <a:prstGeom prst="ellipse">
            <a:avLst/>
          </a:prstGeom>
          <a:solidFill>
            <a:srgbClr val="E8B923"/>
          </a:solidFill>
          <a:ln w="12700">
            <a:solidFill>
              <a:srgbClr val="E8B923"/>
            </a:solidFill>
            <a:prstDash val="solid"/>
          </a:ln>
        </p:spPr>
      </p:sp>
      <p:sp>
        <p:nvSpPr>
          <p:cNvPr id="16" name="Text 14"/>
          <p:cNvSpPr txBox="1"/>
          <p:nvPr/>
        </p:nvSpPr>
        <p:spPr>
          <a:xfrm>
            <a:off x="5449824"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4</a:t>
            </a:r>
            <a:endParaRPr lang="en-US" sz="1400" dirty="0"/>
          </a:p>
        </p:txBody>
      </p:sp>
      <p:sp>
        <p:nvSpPr>
          <p:cNvPr id="17" name="Text 15"/>
          <p:cNvSpPr txBox="1"/>
          <p:nvPr/>
        </p:nvSpPr>
        <p:spPr>
          <a:xfrm>
            <a:off x="5449824"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Act</a:t>
            </a:r>
            <a:endParaRPr lang="en-US" sz="1500" dirty="0"/>
          </a:p>
        </p:txBody>
      </p:sp>
      <p:sp>
        <p:nvSpPr>
          <p:cNvPr id="18" name="Text 16"/>
          <p:cNvSpPr txBox="1"/>
          <p:nvPr/>
        </p:nvSpPr>
        <p:spPr>
          <a:xfrm>
            <a:off x="5449824"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two SO-101 arms; a trained ACT policy for the mug</a:t>
            </a:r>
            <a:endParaRPr lang="en-US" sz="1200" dirty="0"/>
          </a:p>
        </p:txBody>
      </p:sp>
      <p:sp>
        <p:nvSpPr>
          <p:cNvPr id="19" name="Shape 17"/>
          <p:cNvSpPr/>
          <p:nvPr/>
        </p:nvSpPr>
        <p:spPr>
          <a:xfrm>
            <a:off x="7114032" y="1143000"/>
            <a:ext cx="384048" cy="384048"/>
          </a:xfrm>
          <a:prstGeom prst="ellipse">
            <a:avLst/>
          </a:prstGeom>
          <a:solidFill>
            <a:srgbClr val="E8B923"/>
          </a:solidFill>
          <a:ln w="12700">
            <a:solidFill>
              <a:srgbClr val="E8B923"/>
            </a:solidFill>
            <a:prstDash val="solid"/>
          </a:ln>
        </p:spPr>
      </p:sp>
      <p:sp>
        <p:nvSpPr>
          <p:cNvPr id="20" name="Text 18"/>
          <p:cNvSpPr txBox="1"/>
          <p:nvPr/>
        </p:nvSpPr>
        <p:spPr>
          <a:xfrm>
            <a:off x="7114032"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5</a:t>
            </a:r>
            <a:endParaRPr lang="en-US" sz="1400" dirty="0"/>
          </a:p>
        </p:txBody>
      </p:sp>
      <p:sp>
        <p:nvSpPr>
          <p:cNvPr id="21" name="Text 19"/>
          <p:cNvSpPr txBox="1"/>
          <p:nvPr/>
        </p:nvSpPr>
        <p:spPr>
          <a:xfrm>
            <a:off x="7114032"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Look again</a:t>
            </a:r>
            <a:endParaRPr lang="en-US" sz="1500" dirty="0"/>
          </a:p>
        </p:txBody>
      </p:sp>
      <p:sp>
        <p:nvSpPr>
          <p:cNvPr id="22" name="Text 20"/>
          <p:cNvSpPr txBox="1"/>
          <p:nvPr/>
        </p:nvSpPr>
        <p:spPr>
          <a:xfrm>
            <a:off x="7114032"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anything knocked out of place is fixed first</a:t>
            </a:r>
            <a:endParaRPr lang="en-US" sz="1200" dirty="0"/>
          </a:p>
        </p:txBody>
      </p:sp>
      <p:pic>
        <p:nvPicPr>
          <p:cNvPr id="23" name="Image 0" descr="C:\DriveSync\Creative\hackathons\ai-infra-summit-2026\submission\img\eyes.png">    </p:cNvPr>
          <p:cNvPicPr>
            <a:picLocks noChangeAspect="1"/>
          </p:cNvPicPr>
          <p:nvPr/>
        </p:nvPicPr>
        <p:blipFill>
          <a:blip r:embed="rId1"/>
          <a:stretch>
            <a:fillRect/>
          </a:stretch>
        </p:blipFill>
        <p:spPr>
          <a:xfrm>
            <a:off x="457200" y="2926080"/>
            <a:ext cx="2560320" cy="1920240"/>
          </a:xfrm>
          <a:prstGeom prst="rect">
            <a:avLst/>
          </a:prstGeom>
        </p:spPr>
      </p:pic>
      <p:sp>
        <p:nvSpPr>
          <p:cNvPr id="24" name="Text 21"/>
          <p:cNvSpPr txBox="1"/>
          <p:nvPr/>
        </p:nvSpPr>
        <p:spPr>
          <a:xfrm>
            <a:off x="3291840" y="2971800"/>
            <a:ext cx="5394960" cy="182880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What the robot sees</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Objects are found from the height map and their shape, never from the simulator. On 20 random tables every object was found, 0.5 mm average error.</a:t>
            </a:r>
            <a:endParaRPr lang="en-US" sz="16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Held items are tracked from the arm's own joint angles, like a real robot.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Teamwork, and it fixes its own mistakes</a:t>
            </a:r>
            <a:endParaRPr lang="en-US" sz="3000" dirty="0"/>
          </a:p>
        </p:txBody>
      </p:sp>
      <p:pic>
        <p:nvPicPr>
          <p:cNvPr id="3" name="Image 0" descr="C:\DriveSync\Creative\hackathons\ai-infra-summit-2026\submission\img\handoff_crop.png">    </p:cNvPr>
          <p:cNvPicPr>
            <a:picLocks noChangeAspect="1"/>
          </p:cNvPicPr>
          <p:nvPr/>
        </p:nvPicPr>
        <p:blipFill>
          <a:blip r:embed="rId1"/>
          <a:stretch>
            <a:fillRect/>
          </a:stretch>
        </p:blipFill>
        <p:spPr>
          <a:xfrm>
            <a:off x="457200" y="1188720"/>
            <a:ext cx="4023360" cy="2523744"/>
          </a:xfrm>
          <a:prstGeom prst="rect">
            <a:avLst/>
          </a:prstGeom>
        </p:spPr>
      </p:pic>
      <p:sp>
        <p:nvSpPr>
          <p:cNvPr id="4" name="Text 1"/>
          <p:cNvSpPr txBox="1"/>
          <p:nvPr/>
        </p:nvSpPr>
        <p:spPr>
          <a:xfrm>
            <a:off x="457200" y="3794760"/>
            <a:ext cx="4023360" cy="11887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Hand-off</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The fork starts on arm B's side but belongs on arm A's. B carries it in, A moves up at the same time, lines up 1.5 mm away, grips, then B lets go.</a:t>
            </a:r>
            <a:endParaRPr lang="en-US" sz="1600" dirty="0"/>
          </a:p>
        </p:txBody>
      </p:sp>
      <p:pic>
        <p:nvPicPr>
          <p:cNvPr id="5" name="Image 1" descr="C:\DriveSync\Creative\hackathons\ai-infra-summit-2026\submission\img\recovery_bumped.png">    </p:cNvPr>
          <p:cNvPicPr>
            <a:picLocks noChangeAspect="1"/>
          </p:cNvPicPr>
          <p:nvPr/>
        </p:nvPicPr>
        <p:blipFill>
          <a:blip r:embed="rId2"/>
          <a:stretch>
            <a:fillRect/>
          </a:stretch>
        </p:blipFill>
        <p:spPr>
          <a:xfrm>
            <a:off x="4754880" y="1188720"/>
            <a:ext cx="1920240" cy="1444752"/>
          </a:xfrm>
          <a:prstGeom prst="rect">
            <a:avLst/>
          </a:prstGeom>
        </p:spPr>
      </p:pic>
      <p:pic>
        <p:nvPicPr>
          <p:cNvPr id="6" name="Image 2" descr="C:\DriveSync\Creative\hackathons\ai-infra-summit-2026\submission\img\recovery_fixed.png">    </p:cNvPr>
          <p:cNvPicPr>
            <a:picLocks noChangeAspect="1"/>
          </p:cNvPicPr>
          <p:nvPr/>
        </p:nvPicPr>
        <p:blipFill>
          <a:blip r:embed="rId3"/>
          <a:stretch>
            <a:fillRect/>
          </a:stretch>
        </p:blipFill>
        <p:spPr>
          <a:xfrm>
            <a:off x="6766560" y="1188720"/>
            <a:ext cx="1920240" cy="1444752"/>
          </a:xfrm>
          <a:prstGeom prst="rect">
            <a:avLst/>
          </a:prstGeom>
        </p:spPr>
      </p:pic>
      <p:sp>
        <p:nvSpPr>
          <p:cNvPr id="7" name="Text 2"/>
          <p:cNvSpPr txBox="1"/>
          <p:nvPr/>
        </p:nvSpPr>
        <p:spPr>
          <a:xfrm>
            <a:off x="4754880" y="2670048"/>
            <a:ext cx="1920240" cy="274320"/>
          </a:xfrm>
          <a:prstGeom prst="rect">
            <a:avLst/>
          </a:prstGeom>
          <a:noFill/>
          <a:ln/>
        </p:spPr>
        <p:txBody>
          <a:bodyPr wrap="square" lIns="0" tIns="0" rIns="0" bIns="0" rtlCol="0" anchor="ctr"/>
          <a:lstStyle/>
          <a:p>
            <a:pPr algn="ctr" indent="0" marL="0">
              <a:buNone/>
            </a:pPr>
            <a:r>
              <a:rPr lang="en-US" sz="1200" dirty="0">
                <a:solidFill>
                  <a:srgbClr val="F87171"/>
                </a:solidFill>
                <a:latin typeface="Calibri" pitchFamily="34" charset="0"/>
                <a:ea typeface="Calibri" pitchFamily="34" charset="-122"/>
                <a:cs typeface="Calibri" pitchFamily="34" charset="-120"/>
              </a:rPr>
              <a:t>knocked</a:t>
            </a:r>
            <a:endParaRPr lang="en-US" sz="1200" dirty="0"/>
          </a:p>
        </p:txBody>
      </p:sp>
      <p:sp>
        <p:nvSpPr>
          <p:cNvPr id="8" name="Text 3"/>
          <p:cNvSpPr txBox="1"/>
          <p:nvPr/>
        </p:nvSpPr>
        <p:spPr>
          <a:xfrm>
            <a:off x="6766560" y="2670048"/>
            <a:ext cx="1920240" cy="274320"/>
          </a:xfrm>
          <a:prstGeom prst="rect">
            <a:avLst/>
          </a:prstGeom>
          <a:noFill/>
          <a:ln/>
        </p:spPr>
        <p:txBody>
          <a:bodyPr wrap="square" lIns="0" tIns="0" rIns="0" bIns="0" rtlCol="0" anchor="ctr"/>
          <a:lstStyle/>
          <a:p>
            <a:pPr algn="ctr" indent="0" marL="0">
              <a:buNone/>
            </a:pPr>
            <a:r>
              <a:rPr lang="en-US" sz="1200" dirty="0">
                <a:solidFill>
                  <a:srgbClr val="4ADE80"/>
                </a:solidFill>
                <a:latin typeface="Calibri" pitchFamily="34" charset="0"/>
                <a:ea typeface="Calibri" pitchFamily="34" charset="-122"/>
                <a:cs typeface="Calibri" pitchFamily="34" charset="-120"/>
              </a:rPr>
              <a:t>seen and fixed</a:t>
            </a:r>
            <a:endParaRPr lang="en-US" sz="1200" dirty="0"/>
          </a:p>
        </p:txBody>
      </p:sp>
      <p:sp>
        <p:nvSpPr>
          <p:cNvPr id="9" name="Text 4"/>
          <p:cNvSpPr txBox="1"/>
          <p:nvPr/>
        </p:nvSpPr>
        <p:spPr>
          <a:xfrm>
            <a:off x="4754880" y="3063240"/>
            <a:ext cx="3931920" cy="1463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Recovery</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Mid-task, the plate is knocked 6 cm. After the next item the robot looks at everything it already placed, sees the plate has moved, and puts it back before carrying on.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Our own teacher trained the policy</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LeRobot ACT on a laptop CPU · 1,219 demonstrations recorded automatically · success on unseen tables</a:t>
            </a:r>
            <a:endParaRPr lang="en-US" sz="1400" dirty="0"/>
          </a:p>
        </p:txBody>
      </p:sp>
      <p:graphicFrame>
        <p:nvGraphicFramePr>
          <p:cNvPr id="4" name="Chart 0" descr=""/>
          <p:cNvGraphicFramePr/>
          <p:nvPr/>
        </p:nvGraphicFramePr>
        <p:xfrm>
          <a:off x="365760" y="1234440"/>
          <a:ext cx="48463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0" y="1325880"/>
            <a:ext cx="347472" cy="347472"/>
          </a:xfrm>
          <a:prstGeom prst="ellipse">
            <a:avLst/>
          </a:prstGeom>
          <a:solidFill>
            <a:srgbClr val="E8B923"/>
          </a:solidFill>
          <a:ln w="12700">
            <a:solidFill>
              <a:srgbClr val="E8B923"/>
            </a:solidFill>
            <a:prstDash val="solid"/>
          </a:ln>
        </p:spPr>
      </p:sp>
      <p:sp>
        <p:nvSpPr>
          <p:cNvPr id="6" name="Text 3"/>
          <p:cNvSpPr txBox="1"/>
          <p:nvPr/>
        </p:nvSpPr>
        <p:spPr>
          <a:xfrm>
            <a:off x="5486400" y="132588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5989320" y="130759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A teacher must be consistent</a:t>
            </a:r>
            <a:endParaRPr lang="en-US" sz="1400" dirty="0"/>
          </a:p>
        </p:txBody>
      </p:sp>
      <p:sp>
        <p:nvSpPr>
          <p:cNvPr id="8" name="Text 5"/>
          <p:cNvSpPr txBox="1"/>
          <p:nvPr/>
        </p:nvSpPr>
        <p:spPr>
          <a:xfrm>
            <a:off x="5989320" y="162763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picking the best of 12 grip angles looked random to the student — one fixed rule</a:t>
            </a:r>
            <a:endParaRPr lang="en-US" sz="1200" dirty="0"/>
          </a:p>
        </p:txBody>
      </p:sp>
      <p:sp>
        <p:nvSpPr>
          <p:cNvPr id="9" name="Shape 6"/>
          <p:cNvSpPr/>
          <p:nvPr/>
        </p:nvSpPr>
        <p:spPr>
          <a:xfrm>
            <a:off x="5486400" y="2514600"/>
            <a:ext cx="347472" cy="347472"/>
          </a:xfrm>
          <a:prstGeom prst="ellipse">
            <a:avLst/>
          </a:prstGeom>
          <a:solidFill>
            <a:srgbClr val="E8B923"/>
          </a:solidFill>
          <a:ln w="12700">
            <a:solidFill>
              <a:srgbClr val="E8B923"/>
            </a:solidFill>
            <a:prstDash val="solid"/>
          </a:ln>
        </p:spPr>
      </p:sp>
      <p:sp>
        <p:nvSpPr>
          <p:cNvPr id="10" name="Text 7"/>
          <p:cNvSpPr txBox="1"/>
          <p:nvPr/>
        </p:nvSpPr>
        <p:spPr>
          <a:xfrm>
            <a:off x="5486400" y="251460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5989320" y="249631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Targets, not small moves</a:t>
            </a:r>
            <a:endParaRPr lang="en-US" sz="1400" dirty="0"/>
          </a:p>
        </p:txBody>
      </p:sp>
      <p:sp>
        <p:nvSpPr>
          <p:cNvPr id="12" name="Text 9"/>
          <p:cNvSpPr txBox="1"/>
          <p:nvPr/>
        </p:nvSpPr>
        <p:spPr>
          <a:xfrm>
            <a:off x="5989320" y="281635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tiny per-step errors added up to centimetres</a:t>
            </a:r>
            <a:endParaRPr lang="en-US" sz="1200" dirty="0"/>
          </a:p>
        </p:txBody>
      </p:sp>
      <p:sp>
        <p:nvSpPr>
          <p:cNvPr id="13" name="Shape 10"/>
          <p:cNvSpPr/>
          <p:nvPr/>
        </p:nvSpPr>
        <p:spPr>
          <a:xfrm>
            <a:off x="5486400" y="3703320"/>
            <a:ext cx="347472" cy="347472"/>
          </a:xfrm>
          <a:prstGeom prst="ellipse">
            <a:avLst/>
          </a:prstGeom>
          <a:solidFill>
            <a:srgbClr val="E8B923"/>
          </a:solidFill>
          <a:ln w="12700">
            <a:solidFill>
              <a:srgbClr val="E8B923"/>
            </a:solidFill>
            <a:prstDash val="solid"/>
          </a:ln>
        </p:spPr>
      </p:sp>
      <p:sp>
        <p:nvSpPr>
          <p:cNvPr id="14" name="Text 11"/>
          <p:cNvSpPr txBox="1"/>
          <p:nvPr/>
        </p:nvSpPr>
        <p:spPr>
          <a:xfrm>
            <a:off x="5486400" y="370332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5989320" y="368503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Think in the mug's frame</a:t>
            </a:r>
            <a:endParaRPr lang="en-US" sz="1400" dirty="0"/>
          </a:p>
        </p:txBody>
      </p:sp>
      <p:sp>
        <p:nvSpPr>
          <p:cNvPr id="16" name="Text 13"/>
          <p:cNvSpPr txBox="1"/>
          <p:nvPr/>
        </p:nvSpPr>
        <p:spPr>
          <a:xfrm>
            <a:off x="5989320" y="400507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"grip beside the mug" becomes the same move every time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OpenVINO: faster, same accuracy</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Intel Core i7-1165G7 + Iris Xe iGPU, 16 GB · OpenVINO 2026.3</a:t>
            </a:r>
            <a:endParaRPr lang="en-US" sz="1400" dirty="0"/>
          </a:p>
        </p:txBody>
      </p:sp>
      <p:graphicFrame>
        <p:nvGraphicFramePr>
          <p:cNvPr id="4" name="Chart 0" descr=""/>
          <p:cNvGraphicFramePr/>
          <p:nvPr/>
        </p:nvGraphicFramePr>
        <p:xfrm>
          <a:off x="365760" y="12344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577840" y="128016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2.5×</a:t>
            </a:r>
            <a:endParaRPr lang="en-US" sz="2600" dirty="0"/>
          </a:p>
        </p:txBody>
      </p:sp>
      <p:sp>
        <p:nvSpPr>
          <p:cNvPr id="6" name="Text 3"/>
          <p:cNvSpPr txBox="1"/>
          <p:nvPr/>
        </p:nvSpPr>
        <p:spPr>
          <a:xfrm>
            <a:off x="5577840" y="173736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faster policy on CPU with OpenVINO — task success unchanged at every precision (9–10/10)</a:t>
            </a:r>
            <a:endParaRPr lang="en-US" sz="1200" dirty="0"/>
          </a:p>
        </p:txBody>
      </p:sp>
      <p:sp>
        <p:nvSpPr>
          <p:cNvPr id="7" name="Text 4"/>
          <p:cNvSpPr txBox="1"/>
          <p:nvPr/>
        </p:nvSpPr>
        <p:spPr>
          <a:xfrm>
            <a:off x="5577840" y="246888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30 s → 4 s</a:t>
            </a:r>
            <a:endParaRPr lang="en-US" sz="2600" dirty="0"/>
          </a:p>
        </p:txBody>
      </p:sp>
      <p:sp>
        <p:nvSpPr>
          <p:cNvPr id="8" name="Text 5"/>
          <p:cNvSpPr txBox="1"/>
          <p:nvPr/>
        </p:nvSpPr>
        <p:spPr>
          <a:xfrm>
            <a:off x="5577840" y="292608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to read a command: 480 px picture and short answers instead of JSON</a:t>
            </a:r>
            <a:endParaRPr lang="en-US" sz="1200" dirty="0"/>
          </a:p>
        </p:txBody>
      </p:sp>
      <p:sp>
        <p:nvSpPr>
          <p:cNvPr id="9" name="Text 6"/>
          <p:cNvSpPr txBox="1"/>
          <p:nvPr/>
        </p:nvSpPr>
        <p:spPr>
          <a:xfrm>
            <a:off x="5577840" y="365760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2×</a:t>
            </a:r>
            <a:endParaRPr lang="en-US" sz="2600" dirty="0"/>
          </a:p>
        </p:txBody>
      </p:sp>
      <p:sp>
        <p:nvSpPr>
          <p:cNvPr id="10" name="Text 7"/>
          <p:cNvSpPr txBox="1"/>
          <p:nvPr/>
        </p:nvSpPr>
        <p:spPr>
          <a:xfrm>
            <a:off x="5577840" y="411480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faster on the Iris Xe iGPU for large pictures (7.5 s vs 14.9 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Open, reproducible, honest</a:t>
            </a:r>
            <a:endParaRPr lang="en-US" sz="3000" dirty="0"/>
          </a:p>
        </p:txBody>
      </p:sp>
      <p:sp>
        <p:nvSpPr>
          <p:cNvPr id="3" name="Text 1"/>
          <p:cNvSpPr txBox="1"/>
          <p:nvPr/>
        </p:nvSpPr>
        <p:spPr>
          <a:xfrm>
            <a:off x="457200" y="1188720"/>
            <a:ext cx="40233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What we'd do next</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Run the benchmark on a Core Ultra with an NPU (ours is an 11th-gen i7)</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Train policies for the hand-off too; today most skills are the scripted teacher</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Add the drawer and pouring from Intel's example task</a:t>
            </a:r>
            <a:endParaRPr lang="en-US" sz="1300" dirty="0"/>
          </a:p>
        </p:txBody>
      </p:sp>
      <p:sp>
        <p:nvSpPr>
          <p:cNvPr id="4" name="Shape 2"/>
          <p:cNvSpPr/>
          <p:nvPr/>
        </p:nvSpPr>
        <p:spPr>
          <a:xfrm>
            <a:off x="4754880" y="1188720"/>
            <a:ext cx="3931920" cy="1920240"/>
          </a:xfrm>
          <a:prstGeom prst="roundRect">
            <a:avLst>
              <a:gd name="adj" fmla="val 3810"/>
            </a:avLst>
          </a:prstGeom>
          <a:solidFill>
            <a:srgbClr val="222A35"/>
          </a:solidFill>
          <a:ln w="12700">
            <a:solidFill>
              <a:srgbClr val="222A35"/>
            </a:solidFill>
            <a:prstDash val="solid"/>
          </a:ln>
        </p:spPr>
      </p:sp>
      <p:sp>
        <p:nvSpPr>
          <p:cNvPr id="5" name="Text 3"/>
          <p:cNvSpPr txBox="1"/>
          <p:nvPr/>
        </p:nvSpPr>
        <p:spPr>
          <a:xfrm>
            <a:off x="4983480" y="1325880"/>
            <a:ext cx="3566160" cy="1691640"/>
          </a:xfrm>
          <a:prstGeom prst="rect">
            <a:avLst/>
          </a:prstGeom>
          <a:noFill/>
          <a:ln/>
        </p:spPr>
        <p:txBody>
          <a:bodyPr wrap="square" lIns="0" tIns="0" rIns="0" bIns="0" rtlCol="0" anchor="t"/>
          <a:lstStyle/>
          <a:p>
            <a:pPr indent="0" marL="0">
              <a:spcAft>
                <a:spcPts val="400"/>
              </a:spcAft>
              <a:buNone/>
            </a:pPr>
            <a:r>
              <a:rPr lang="en-US" sz="1600" b="1" dirty="0">
                <a:solidFill>
                  <a:srgbClr val="FFFFFF"/>
                </a:solidFill>
                <a:latin typeface="Arial" pitchFamily="34" charset="0"/>
                <a:ea typeface="Arial" pitchFamily="34" charset="-122"/>
                <a:cs typeface="Arial" pitchFamily="34" charset="-120"/>
              </a:rPr>
              <a:t>Try it</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brain/run.py "set the table"</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brain/evaluate.py --seeds 10 --hard</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bench/benchmark.py</a:t>
            </a:r>
            <a:endParaRPr lang="en-US" sz="1600" dirty="0"/>
          </a:p>
          <a:p>
            <a:pPr indent="0" marL="0">
              <a:spcAft>
                <a:spcPts val="400"/>
              </a:spcAft>
              <a:buNone/>
            </a:pPr>
            <a:r>
              <a:rPr lang="en-US" sz="800" dirty="0">
                <a:solidFill>
                  <a:srgbClr val="000000"/>
                </a:solidFill>
              </a:rPr>
              <a:t> </a:t>
            </a:r>
            <a:endParaRPr lang="en-US" sz="16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github.com/PegBitStudio/two-arm-table-setter</a:t>
            </a:r>
            <a:endParaRPr lang="en-US" sz="1600" dirty="0"/>
          </a:p>
        </p:txBody>
      </p:sp>
      <p:sp>
        <p:nvSpPr>
          <p:cNvPr id="6" name="Text 4"/>
          <p:cNvSpPr txBox="1"/>
          <p:nvPr/>
        </p:nvSpPr>
        <p:spPr>
          <a:xfrm>
            <a:off x="457200" y="3611880"/>
            <a:ext cx="8229600" cy="548640"/>
          </a:xfrm>
          <a:prstGeom prst="rect">
            <a:avLst/>
          </a:prstGeom>
          <a:noFill/>
          <a:ln/>
        </p:spPr>
        <p:txBody>
          <a:bodyPr wrap="square" lIns="0" tIns="0" rIns="0" bIns="0" rtlCol="0" anchor="ctr"/>
          <a:lstStyle/>
          <a:p>
            <a:pPr indent="0" marL="0">
              <a:buNone/>
            </a:pPr>
            <a:r>
              <a:rPr lang="en-US" sz="1300" dirty="0">
                <a:solidFill>
                  <a:srgbClr val="9AA7B5"/>
                </a:solidFill>
                <a:latin typeface="Calibri" pitchFamily="34" charset="0"/>
                <a:ea typeface="Calibri" pitchFamily="34" charset="-122"/>
                <a:cs typeface="Calibri" pitchFamily="34" charset="-120"/>
              </a:rPr>
              <a:t>Every scene is seeded and every number here is reproducible from one command. MIT licence. Built with MuJoCo, LeRobot, OpenVINO and Qwen3-VL.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Two-Arm Table Setter</dc:title>
  <dc:subject>PptxGenJS Presentation</dc:subject>
  <dc:creator>PptxGenJS</dc:creator>
  <cp:lastModifiedBy>PptxGenJS</cp:lastModifiedBy>
  <cp:revision>1</cp:revision>
  <dcterms:created xsi:type="dcterms:W3CDTF">2026-09-13T17:17:22Z</dcterms:created>
  <dcterms:modified xsi:type="dcterms:W3CDTF">2026-09-13T17:17:22Z</dcterms:modified>
</cp:coreProperties>
</file>