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Mug placed within 1.5 cm</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E8B923"/>
            </a:solidFill>
            <a:effectLst/>
          </c:spPr>
          <c:invertIfNegative val="0"/>
          <c:dLbls>
            <c:numFmt formatCode="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Sheet1!$A$2:$A$8</c:f>
              <c:multiLvlStrCache>
                <c:ptCount val="7"/>
                <c:lvl>
                  <c:pt idx="0">
                    <c:v>v1</c:v>
                  </c:pt>
                  <c:pt idx="1">
                    <c:v>v2</c:v>
                  </c:pt>
                  <c:pt idx="2">
                    <c:v>v3</c:v>
                  </c:pt>
                  <c:pt idx="3">
                    <c:v>v4</c:v>
                  </c:pt>
                  <c:pt idx="4">
                    <c:v>v5</c:v>
                  </c:pt>
                  <c:pt idx="5">
                    <c:v>v6</c:v>
                  </c:pt>
                  <c:pt idx="6">
                    <c:v>v7</c:v>
                  </c:pt>
                </c:lvl>
              </c:multiLvlStrCache>
            </c:multiLvlStrRef>
          </c:cat>
          <c:val>
            <c:numRef>
              <c:f>Sheet1!$B$2:$B$8</c:f>
              <c:numCache>
                <c:formatCode>General</c:formatCode>
                <c:ptCount val="7"/>
                <c:pt idx="0">
                  <c:v>5</c:v>
                </c:pt>
                <c:pt idx="1">
                  <c:v>10</c:v>
                </c:pt>
                <c:pt idx="2">
                  <c:v>10</c:v>
                </c:pt>
                <c:pt idx="3">
                  <c:v>0</c:v>
                </c:pt>
                <c:pt idx="4">
                  <c:v>10</c:v>
                </c:pt>
                <c:pt idx="5">
                  <c:v>20</c:v>
                </c:pt>
                <c:pt idx="6">
                  <c:v>95</c:v>
                </c:pt>
              </c:numCache>
            </c:numRef>
          </c:val>
        </c:ser>
        <c:dLbls>
          <c:numFmt formatCode="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AA7B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E374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7B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ACT policy, ms per call, CPU unless marked (lower is better)</a:t>
            </a:r>
          </a:p>
        </c:rich>
      </c:tx>
      <c:layout/>
      <c:overlay val="0"/>
    </c:title>
    <c:autoTitleDeleted val="0"/>
    <c:plotArea>
      <c:layout/>
      <c:barChart>
        <c:barDir val="bar"/>
        <c:grouping val="clustered"/>
        <c:varyColors val="0"/>
        <c:ser>
          <c:idx val="0"/>
          <c:order val="0"/>
          <c:tx>
            <c:strRef>
              <c:f>Sheet1!$B$1</c:f>
              <c:strCache>
                <c:ptCount val="1"/>
                <c:pt idx="0">
                  <c:v>ms</c:v>
                </c:pt>
              </c:strCache>
            </c:strRef>
          </c:tx>
          <c:spPr>
            <a:solidFill>
              <a:srgbClr val="E8B923"/>
            </a:solidFill>
            <a:effectLst/>
          </c:spPr>
          <c:invertIfNegative val="0"/>
          <c:dLbls>
            <c:numFmt formatCode="0.00&quot; ms&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INT8 on NPU</c:v>
                  </c:pt>
                  <c:pt idx="1">
                    <c:v>INT8 weights</c:v>
                  </c:pt>
                  <c:pt idx="2">
                    <c:v>OpenVINO INT8</c:v>
                  </c:pt>
                  <c:pt idx="3">
                    <c:v>OpenVINO FP16</c:v>
                  </c:pt>
                  <c:pt idx="4">
                    <c:v>OpenVINO FP32</c:v>
                  </c:pt>
                  <c:pt idx="5">
                    <c:v>PyTorch FP32</c:v>
                  </c:pt>
                </c:lvl>
              </c:multiLvlStrCache>
            </c:multiLvlStrRef>
          </c:cat>
          <c:val>
            <c:numRef>
              <c:f>Sheet1!$B$2:$B$7</c:f>
              <c:numCache>
                <c:formatCode>General</c:formatCode>
                <c:ptCount val="6"/>
                <c:pt idx="0">
                  <c:v>1.1</c:v>
                </c:pt>
                <c:pt idx="1">
                  <c:v>0.74</c:v>
                </c:pt>
                <c:pt idx="2">
                  <c:v>0.72</c:v>
                </c:pt>
                <c:pt idx="3">
                  <c:v>0.81</c:v>
                </c:pt>
                <c:pt idx="4">
                  <c:v>0.83</c:v>
                </c:pt>
                <c:pt idx="5">
                  <c:v>2.07</c:v>
                </c:pt>
              </c:numCache>
            </c:numRef>
          </c:val>
        </c:ser>
        <c:dLbls>
          <c:numFmt formatCode="0.00&quot; ms&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E374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AA7B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robot arms that set a dinner table when you tell them to. They look at the table with a camera, understand the command with a vision-language model, hand things to each other, and fix their own mistakes. Everything runs on an Intel Core Ultra laptop with OpenVINO, using its processor, graphics and neural processing unit: no graphics card, no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sets the table correctly on 30 out of 30 random tables, and 29 out of 30 when we make it harder by moving things further and changing their sizes and colours. Success is always judged against where objects really are in the simulator, not against what the robot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Service robots in homes, hospitals, hotels and restaurants need exactly this combination: anyone can tell them what to do in plain language, they can use two hands, and they check their own work. And it's cheap: it runs on an ordinary laptop, and the skills teach themselves from demonstrations the robot records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a loop. The camera image is the only way the robot learns where things are. The vision-language model turns the command into goals, the planner decides who does what, the arms act, and after every item the robot looks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Cutlery often starts on the wrong arm's side, so the arms pass it across: one holds an end, the other takes the other end. And the robot checks its own work. Here we knock the plate out of place halfway through: it notices and fixes it before carrying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recording examples by hand, our scripted skills acted as the teacher and recorded over a thousand perfect demonstrations automatically, keeping only the successes. The first six versions failed, and each failure taught us something. Version seven places the mug correctly 95 percent of the time on tables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this on a Core Ultra 7 155H, across all three of its Intel chips. OpenVINO makes our trained policy nearly three times faster on the CPU, and the robot still succeeds just as often. The same policy runs on the AI Boost NPU at nine tenths of a millisecond, and at half precision there it places the mug ten times out of ten, which frees the processor and graphics for everything else. The Arc graphics reads a command in one point three seconds, almost three times faster than the processor. One honest finding: the NPU compiler cannot build the vision-language model at all, so that part falls back to the graphics chip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and seeded, so every number in this deck can be reproduced with one command, and the raw Core Ultra logs ship in the repository. We're upfront about what's missing: the vision-language model still cannot compile for the NPU, most skills are scripted rather than learned, and we left out the drawer and pouring.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2"/>
        </a:solidFill>
      </p:bgPr>
    </p:bg>
    <p:spTree>
      <p:nvGrpSpPr>
        <p:cNvPr id="1" name=""/>
        <p:cNvGrpSpPr/>
        <p:nvPr/>
      </p:nvGrpSpPr>
      <p:grpSpPr>
        <a:xfrm>
          <a:off x="0" y="0"/>
          <a:ext cx="0" cy="0"/>
          <a:chOff x="0" y="0"/>
          <a:chExt cx="0" cy="0"/>
        </a:xfrm>
      </p:grpSpPr>
      <p:pic>
        <p:nvPicPr>
          <p:cNvPr id="2" name="Image 0" descr="C:\DriveSync\Creative\hackathons\ai-infra-summit-2026\submission\cover.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411480" y="228600"/>
            <a:ext cx="8229600" cy="320040"/>
          </a:xfrm>
          <a:prstGeom prst="rect">
            <a:avLst/>
          </a:prstGeom>
          <a:noFill/>
          <a:ln/>
        </p:spPr>
        <p:txBody>
          <a:bodyPr wrap="square" lIns="0" tIns="0" rIns="0" bIns="0" rtlCol="0" anchor="ctr"/>
          <a:lstStyle/>
          <a:p>
            <a:pPr indent="0" marL="0">
              <a:buNone/>
            </a:pPr>
            <a:r>
              <a:rPr lang="en-US" sz="1300" dirty="0">
                <a:solidFill>
                  <a:srgbClr val="9AA7B5"/>
                </a:solidFill>
                <a:latin typeface="Calibri" pitchFamily="34" charset="0"/>
                <a:ea typeface="Calibri" pitchFamily="34" charset="-122"/>
                <a:cs typeface="Calibri" pitchFamily="34" charset="-120"/>
              </a:rPr>
              <a:t>AI Infra Summit Hackathon · Intel online track · Bimanual VLA manipulation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One command. Two hands. A set table.</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9AA7B5"/>
                </a:solidFill>
                <a:latin typeface="Calibri" pitchFamily="34" charset="0"/>
                <a:ea typeface="Calibri" pitchFamily="34" charset="-122"/>
                <a:cs typeface="Calibri" pitchFamily="34" charset="-120"/>
              </a:rPr>
              <a:t>Tested the way Intel asked: random tables, success checked against simulator truth</a:t>
            </a:r>
            <a:endParaRPr lang="en-US" sz="1400" dirty="0"/>
          </a:p>
        </p:txBody>
      </p:sp>
      <p:sp>
        <p:nvSpPr>
          <p:cNvPr id="4" name="Text 2"/>
          <p:cNvSpPr txBox="1"/>
          <p:nvPr/>
        </p:nvSpPr>
        <p:spPr>
          <a:xfrm>
            <a:off x="457200" y="1371600"/>
            <a:ext cx="3749040" cy="31089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Say or type what you want</a:t>
            </a:r>
            <a:endParaRPr lang="en-US" sz="1600" dirty="0"/>
          </a:p>
          <a:p>
            <a:pPr indent="0" marL="0">
              <a:buNone/>
            </a:pPr>
            <a:r>
              <a:rPr lang="en-US" sz="1600" i="1" dirty="0">
                <a:solidFill>
                  <a:srgbClr val="9AA7B5"/>
                </a:solidFill>
                <a:latin typeface="Calibri" pitchFamily="34" charset="0"/>
                <a:ea typeface="Calibri" pitchFamily="34" charset="-122"/>
                <a:cs typeface="Calibri" pitchFamily="34" charset="-120"/>
              </a:rPr>
              <a:t>"put the red thing top left of the plate and the grey utensil on the right"</a:t>
            </a:r>
            <a:endParaRPr lang="en-US" sz="1600" dirty="0"/>
          </a:p>
          <a:p>
            <a:pPr indent="0" marL="0">
              <a:buNone/>
            </a:pPr>
            <a:r>
              <a:rPr lang="en-US" sz="16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The robot works out the rest</a:t>
            </a:r>
            <a:endParaRPr lang="en-US" sz="1600" dirty="0"/>
          </a:p>
          <a:p>
            <a:pPr indent="0" marL="0">
              <a:buNone/>
            </a:pPr>
            <a:r>
              <a:rPr lang="en-US" sz="1600" dirty="0">
                <a:solidFill>
                  <a:srgbClr val="9AA7B5"/>
                </a:solidFill>
                <a:latin typeface="Calibri" pitchFamily="34" charset="0"/>
                <a:ea typeface="Calibri" pitchFamily="34" charset="-122"/>
                <a:cs typeface="Calibri" pitchFamily="34" charset="-120"/>
              </a:rPr>
              <a:t>which item is meant, which arm, when to pass an item across, what to do first — and checks every step with its camera</a:t>
            </a:r>
            <a:endParaRPr lang="en-US" sz="1600" dirty="0"/>
          </a:p>
        </p:txBody>
      </p:sp>
      <p:sp>
        <p:nvSpPr>
          <p:cNvPr id="5" name="Shape 3"/>
          <p:cNvSpPr/>
          <p:nvPr/>
        </p:nvSpPr>
        <p:spPr>
          <a:xfrm>
            <a:off x="4572000" y="1325880"/>
            <a:ext cx="1920240" cy="1417320"/>
          </a:xfrm>
          <a:prstGeom prst="roundRect">
            <a:avLst>
              <a:gd name="adj" fmla="val 5161"/>
            </a:avLst>
          </a:prstGeom>
          <a:solidFill>
            <a:srgbClr val="222A35"/>
          </a:solidFill>
          <a:ln w="12700">
            <a:solidFill>
              <a:srgbClr val="222A35"/>
            </a:solidFill>
            <a:prstDash val="solid"/>
          </a:ln>
        </p:spPr>
      </p:sp>
      <p:sp>
        <p:nvSpPr>
          <p:cNvPr id="6" name="Text 4"/>
          <p:cNvSpPr txBox="1"/>
          <p:nvPr/>
        </p:nvSpPr>
        <p:spPr>
          <a:xfrm>
            <a:off x="4572000" y="1435608"/>
            <a:ext cx="1920240" cy="685800"/>
          </a:xfrm>
          <a:prstGeom prst="rect">
            <a:avLst/>
          </a:prstGeom>
          <a:noFill/>
          <a:ln/>
        </p:spPr>
        <p:txBody>
          <a:bodyPr wrap="square" lIns="0" tIns="0" rIns="0" bIns="0" rtlCol="0" anchor="ctr"/>
          <a:lstStyle/>
          <a:p>
            <a:pPr algn="ctr" indent="0" marL="0">
              <a:buNone/>
            </a:pPr>
            <a:r>
              <a:rPr lang="en-US" sz="3600" b="1" dirty="0">
                <a:solidFill>
                  <a:srgbClr val="E8B923"/>
                </a:solidFill>
                <a:latin typeface="Arial" pitchFamily="34" charset="0"/>
                <a:ea typeface="Arial" pitchFamily="34" charset="-122"/>
                <a:cs typeface="Arial" pitchFamily="34" charset="-120"/>
              </a:rPr>
              <a:t>30/30</a:t>
            </a:r>
            <a:endParaRPr lang="en-US" sz="3600" dirty="0"/>
          </a:p>
        </p:txBody>
      </p:sp>
      <p:sp>
        <p:nvSpPr>
          <p:cNvPr id="7" name="Text 5"/>
          <p:cNvSpPr txBox="1"/>
          <p:nvPr/>
        </p:nvSpPr>
        <p:spPr>
          <a:xfrm>
            <a:off x="4681728" y="2130552"/>
            <a:ext cx="1700784" cy="5029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tables set correctly</a:t>
            </a:r>
            <a:endParaRPr lang="en-US" sz="1200" dirty="0"/>
          </a:p>
        </p:txBody>
      </p:sp>
      <p:sp>
        <p:nvSpPr>
          <p:cNvPr id="8" name="Shape 6"/>
          <p:cNvSpPr/>
          <p:nvPr/>
        </p:nvSpPr>
        <p:spPr>
          <a:xfrm>
            <a:off x="6675120" y="1325880"/>
            <a:ext cx="1920240" cy="1417320"/>
          </a:xfrm>
          <a:prstGeom prst="roundRect">
            <a:avLst>
              <a:gd name="adj" fmla="val 5161"/>
            </a:avLst>
          </a:prstGeom>
          <a:solidFill>
            <a:srgbClr val="222A35"/>
          </a:solidFill>
          <a:ln w="12700">
            <a:solidFill>
              <a:srgbClr val="222A35"/>
            </a:solidFill>
            <a:prstDash val="solid"/>
          </a:ln>
        </p:spPr>
      </p:sp>
      <p:sp>
        <p:nvSpPr>
          <p:cNvPr id="9" name="Text 7"/>
          <p:cNvSpPr txBox="1"/>
          <p:nvPr/>
        </p:nvSpPr>
        <p:spPr>
          <a:xfrm>
            <a:off x="6675120" y="1435608"/>
            <a:ext cx="1920240" cy="685800"/>
          </a:xfrm>
          <a:prstGeom prst="rect">
            <a:avLst/>
          </a:prstGeom>
          <a:noFill/>
          <a:ln/>
        </p:spPr>
        <p:txBody>
          <a:bodyPr wrap="square" lIns="0" tIns="0" rIns="0" bIns="0" rtlCol="0" anchor="ctr"/>
          <a:lstStyle/>
          <a:p>
            <a:pPr algn="ctr" indent="0" marL="0">
              <a:buNone/>
            </a:pPr>
            <a:r>
              <a:rPr lang="en-US" sz="3600" b="1" dirty="0">
                <a:solidFill>
                  <a:srgbClr val="E8B923"/>
                </a:solidFill>
                <a:latin typeface="Arial" pitchFamily="34" charset="0"/>
                <a:ea typeface="Arial" pitchFamily="34" charset="-122"/>
                <a:cs typeface="Arial" pitchFamily="34" charset="-120"/>
              </a:rPr>
              <a:t>29/30</a:t>
            </a:r>
            <a:endParaRPr lang="en-US" sz="3600" dirty="0"/>
          </a:p>
        </p:txBody>
      </p:sp>
      <p:sp>
        <p:nvSpPr>
          <p:cNvPr id="10" name="Text 8"/>
          <p:cNvSpPr txBox="1"/>
          <p:nvPr/>
        </p:nvSpPr>
        <p:spPr>
          <a:xfrm>
            <a:off x="6784848" y="2130552"/>
            <a:ext cx="1700784" cy="5029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harder tables: positions, sizes, colours</a:t>
            </a:r>
            <a:endParaRPr lang="en-US" sz="1200" dirty="0"/>
          </a:p>
        </p:txBody>
      </p:sp>
      <p:sp>
        <p:nvSpPr>
          <p:cNvPr id="11" name="Shape 9"/>
          <p:cNvSpPr/>
          <p:nvPr/>
        </p:nvSpPr>
        <p:spPr>
          <a:xfrm>
            <a:off x="4572000" y="2926080"/>
            <a:ext cx="1920240" cy="1417320"/>
          </a:xfrm>
          <a:prstGeom prst="roundRect">
            <a:avLst>
              <a:gd name="adj" fmla="val 5161"/>
            </a:avLst>
          </a:prstGeom>
          <a:solidFill>
            <a:srgbClr val="222A35"/>
          </a:solidFill>
          <a:ln w="12700">
            <a:solidFill>
              <a:srgbClr val="222A35"/>
            </a:solidFill>
            <a:prstDash val="solid"/>
          </a:ln>
        </p:spPr>
      </p:sp>
      <p:sp>
        <p:nvSpPr>
          <p:cNvPr id="12" name="Text 10"/>
          <p:cNvSpPr txBox="1"/>
          <p:nvPr/>
        </p:nvSpPr>
        <p:spPr>
          <a:xfrm>
            <a:off x="4572000" y="3035808"/>
            <a:ext cx="1920240" cy="685800"/>
          </a:xfrm>
          <a:prstGeom prst="rect">
            <a:avLst/>
          </a:prstGeom>
          <a:noFill/>
          <a:ln/>
        </p:spPr>
        <p:txBody>
          <a:bodyPr wrap="square" lIns="0" tIns="0" rIns="0" bIns="0" rtlCol="0" anchor="ctr"/>
          <a:lstStyle/>
          <a:p>
            <a:pPr algn="ctr" indent="0" marL="0">
              <a:buNone/>
            </a:pPr>
            <a:r>
              <a:rPr lang="en-US" sz="3600" b="1" dirty="0">
                <a:solidFill>
                  <a:srgbClr val="E8B923"/>
                </a:solidFill>
                <a:latin typeface="Arial" pitchFamily="34" charset="0"/>
                <a:ea typeface="Arial" pitchFamily="34" charset="-122"/>
                <a:cs typeface="Arial" pitchFamily="34" charset="-120"/>
              </a:rPr>
              <a:t>95%</a:t>
            </a:r>
            <a:endParaRPr lang="en-US" sz="3600" dirty="0"/>
          </a:p>
        </p:txBody>
      </p:sp>
      <p:sp>
        <p:nvSpPr>
          <p:cNvPr id="13" name="Text 11"/>
          <p:cNvSpPr txBox="1"/>
          <p:nvPr/>
        </p:nvSpPr>
        <p:spPr>
          <a:xfrm>
            <a:off x="4681728" y="3730752"/>
            <a:ext cx="1700784" cy="5029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trained ACT policy on unseen tables</a:t>
            </a:r>
            <a:endParaRPr lang="en-US" sz="1200" dirty="0"/>
          </a:p>
        </p:txBody>
      </p:sp>
      <p:sp>
        <p:nvSpPr>
          <p:cNvPr id="14" name="Shape 12"/>
          <p:cNvSpPr/>
          <p:nvPr/>
        </p:nvSpPr>
        <p:spPr>
          <a:xfrm>
            <a:off x="6675120" y="2926080"/>
            <a:ext cx="1920240" cy="1417320"/>
          </a:xfrm>
          <a:prstGeom prst="roundRect">
            <a:avLst>
              <a:gd name="adj" fmla="val 5161"/>
            </a:avLst>
          </a:prstGeom>
          <a:solidFill>
            <a:srgbClr val="222A35"/>
          </a:solidFill>
          <a:ln w="12700">
            <a:solidFill>
              <a:srgbClr val="222A35"/>
            </a:solidFill>
            <a:prstDash val="solid"/>
          </a:ln>
        </p:spPr>
      </p:sp>
      <p:sp>
        <p:nvSpPr>
          <p:cNvPr id="15" name="Text 13"/>
          <p:cNvSpPr txBox="1"/>
          <p:nvPr/>
        </p:nvSpPr>
        <p:spPr>
          <a:xfrm>
            <a:off x="6675120" y="3035808"/>
            <a:ext cx="1920240" cy="685800"/>
          </a:xfrm>
          <a:prstGeom prst="rect">
            <a:avLst/>
          </a:prstGeom>
          <a:noFill/>
          <a:ln/>
        </p:spPr>
        <p:txBody>
          <a:bodyPr wrap="square" lIns="0" tIns="0" rIns="0" bIns="0" rtlCol="0" anchor="ctr"/>
          <a:lstStyle/>
          <a:p>
            <a:pPr algn="ctr" indent="0" marL="0">
              <a:buNone/>
            </a:pPr>
            <a:r>
              <a:rPr lang="en-US" sz="3600" b="1" dirty="0">
                <a:solidFill>
                  <a:srgbClr val="E8B923"/>
                </a:solidFill>
                <a:latin typeface="Arial" pitchFamily="34" charset="0"/>
                <a:ea typeface="Arial" pitchFamily="34" charset="-122"/>
                <a:cs typeface="Arial" pitchFamily="34" charset="-120"/>
              </a:rPr>
              <a:t>1.3 s</a:t>
            </a:r>
            <a:endParaRPr lang="en-US" sz="3600" dirty="0"/>
          </a:p>
        </p:txBody>
      </p:sp>
      <p:sp>
        <p:nvSpPr>
          <p:cNvPr id="16" name="Text 14"/>
          <p:cNvSpPr txBox="1"/>
          <p:nvPr/>
        </p:nvSpPr>
        <p:spPr>
          <a:xfrm>
            <a:off x="6784848" y="3730752"/>
            <a:ext cx="1700784" cy="5029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to understand a command (was 30 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Why it matters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9AA7B5"/>
                </a:solidFill>
                <a:latin typeface="Calibri" pitchFamily="34" charset="0"/>
                <a:ea typeface="Calibri" pitchFamily="34" charset="-122"/>
                <a:cs typeface="Calibri" pitchFamily="34" charset="-120"/>
              </a:rPr>
              <a:t>Service robots for homes, hospitals, hotels and restaurants</a:t>
            </a:r>
            <a:endParaRPr lang="en-US" sz="1400" dirty="0"/>
          </a:p>
        </p:txBody>
      </p:sp>
      <p:sp>
        <p:nvSpPr>
          <p:cNvPr id="4" name="Shape 2"/>
          <p:cNvSpPr/>
          <p:nvPr/>
        </p:nvSpPr>
        <p:spPr>
          <a:xfrm>
            <a:off x="457200" y="1325880"/>
            <a:ext cx="4023360" cy="1600200"/>
          </a:xfrm>
          <a:prstGeom prst="roundRect">
            <a:avLst>
              <a:gd name="adj" fmla="val 4571"/>
            </a:avLst>
          </a:prstGeom>
          <a:solidFill>
            <a:srgbClr val="222A35"/>
          </a:solidFill>
          <a:ln w="12700">
            <a:solidFill>
              <a:srgbClr val="222A35"/>
            </a:solidFill>
            <a:prstDash val="solid"/>
          </a:ln>
        </p:spPr>
      </p:sp>
      <p:sp>
        <p:nvSpPr>
          <p:cNvPr id="5" name="Shape 3"/>
          <p:cNvSpPr/>
          <p:nvPr/>
        </p:nvSpPr>
        <p:spPr>
          <a:xfrm>
            <a:off x="685800" y="1581912"/>
            <a:ext cx="365760" cy="365760"/>
          </a:xfrm>
          <a:prstGeom prst="ellipse">
            <a:avLst/>
          </a:prstGeom>
          <a:solidFill>
            <a:srgbClr val="E8B923"/>
          </a:solidFill>
          <a:ln w="12700">
            <a:solidFill>
              <a:srgbClr val="E8B923"/>
            </a:solidFill>
            <a:prstDash val="solid"/>
          </a:ln>
        </p:spPr>
      </p:sp>
      <p:sp>
        <p:nvSpPr>
          <p:cNvPr id="6" name="Text 4"/>
          <p:cNvSpPr txBox="1"/>
          <p:nvPr/>
        </p:nvSpPr>
        <p:spPr>
          <a:xfrm>
            <a:off x="685800" y="1581912"/>
            <a:ext cx="365760" cy="365760"/>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88720" y="1581912"/>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Anyone can instruct it</a:t>
            </a:r>
            <a:endParaRPr lang="en-US" sz="1600" dirty="0"/>
          </a:p>
        </p:txBody>
      </p:sp>
      <p:sp>
        <p:nvSpPr>
          <p:cNvPr id="8" name="Text 6"/>
          <p:cNvSpPr txBox="1"/>
          <p:nvPr/>
        </p:nvSpPr>
        <p:spPr>
          <a:xfrm>
            <a:off x="1188720" y="1984248"/>
            <a:ext cx="3108960" cy="822960"/>
          </a:xfrm>
          <a:prstGeom prst="rect">
            <a:avLst/>
          </a:prstGeom>
          <a:noFill/>
          <a:ln/>
        </p:spPr>
        <p:txBody>
          <a:bodyPr wrap="square" lIns="0" tIns="0" rIns="0" bIns="0" rtlCol="0" anchor="t"/>
          <a:lstStyle/>
          <a:p>
            <a:pPr indent="0" marL="0">
              <a:buNone/>
            </a:pPr>
            <a:r>
              <a:rPr lang="en-US" sz="1300" dirty="0">
                <a:solidFill>
                  <a:srgbClr val="9AA7B5"/>
                </a:solidFill>
                <a:latin typeface="Calibri" pitchFamily="34" charset="0"/>
                <a:ea typeface="Calibri" pitchFamily="34" charset="-122"/>
                <a:cs typeface="Calibri" pitchFamily="34" charset="-120"/>
              </a:rPr>
              <a:t>Plain language, spoken or typed. No programming, no app, no fixed commands.</a:t>
            </a:r>
            <a:endParaRPr lang="en-US" sz="1300" dirty="0"/>
          </a:p>
        </p:txBody>
      </p:sp>
      <p:sp>
        <p:nvSpPr>
          <p:cNvPr id="9" name="Shape 7"/>
          <p:cNvSpPr/>
          <p:nvPr/>
        </p:nvSpPr>
        <p:spPr>
          <a:xfrm>
            <a:off x="4663440" y="1325880"/>
            <a:ext cx="4023360" cy="1600200"/>
          </a:xfrm>
          <a:prstGeom prst="roundRect">
            <a:avLst>
              <a:gd name="adj" fmla="val 4571"/>
            </a:avLst>
          </a:prstGeom>
          <a:solidFill>
            <a:srgbClr val="222A35"/>
          </a:solidFill>
          <a:ln w="12700">
            <a:solidFill>
              <a:srgbClr val="222A35"/>
            </a:solidFill>
            <a:prstDash val="solid"/>
          </a:ln>
        </p:spPr>
      </p:sp>
      <p:sp>
        <p:nvSpPr>
          <p:cNvPr id="10" name="Shape 8"/>
          <p:cNvSpPr/>
          <p:nvPr/>
        </p:nvSpPr>
        <p:spPr>
          <a:xfrm>
            <a:off x="4892040" y="1581912"/>
            <a:ext cx="365760" cy="365760"/>
          </a:xfrm>
          <a:prstGeom prst="ellipse">
            <a:avLst/>
          </a:prstGeom>
          <a:solidFill>
            <a:srgbClr val="E8B923"/>
          </a:solidFill>
          <a:ln w="12700">
            <a:solidFill>
              <a:srgbClr val="E8B923"/>
            </a:solidFill>
            <a:prstDash val="solid"/>
          </a:ln>
        </p:spPr>
      </p:sp>
      <p:sp>
        <p:nvSpPr>
          <p:cNvPr id="11" name="Text 9"/>
          <p:cNvSpPr txBox="1"/>
          <p:nvPr/>
        </p:nvSpPr>
        <p:spPr>
          <a:xfrm>
            <a:off x="4892040" y="1581912"/>
            <a:ext cx="365760" cy="365760"/>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5394960" y="1581912"/>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Two hands, real tasks</a:t>
            </a:r>
            <a:endParaRPr lang="en-US" sz="1600" dirty="0"/>
          </a:p>
        </p:txBody>
      </p:sp>
      <p:sp>
        <p:nvSpPr>
          <p:cNvPr id="13" name="Text 11"/>
          <p:cNvSpPr txBox="1"/>
          <p:nvPr/>
        </p:nvSpPr>
        <p:spPr>
          <a:xfrm>
            <a:off x="5394960" y="1984248"/>
            <a:ext cx="3108960" cy="822960"/>
          </a:xfrm>
          <a:prstGeom prst="rect">
            <a:avLst/>
          </a:prstGeom>
          <a:noFill/>
          <a:ln/>
        </p:spPr>
        <p:txBody>
          <a:bodyPr wrap="square" lIns="0" tIns="0" rIns="0" bIns="0" rtlCol="0" anchor="t"/>
          <a:lstStyle/>
          <a:p>
            <a:pPr indent="0" marL="0">
              <a:buNone/>
            </a:pPr>
            <a:r>
              <a:rPr lang="en-US" sz="1300" dirty="0">
                <a:solidFill>
                  <a:srgbClr val="9AA7B5"/>
                </a:solidFill>
                <a:latin typeface="Calibri" pitchFamily="34" charset="0"/>
                <a:ea typeface="Calibri" pitchFamily="34" charset="-122"/>
                <a:cs typeface="Calibri" pitchFamily="34" charset="-120"/>
              </a:rPr>
              <a:t>Passing, holding and placing — the everyday handling that one-armed robots can't do.</a:t>
            </a:r>
            <a:endParaRPr lang="en-US" sz="1300" dirty="0"/>
          </a:p>
        </p:txBody>
      </p:sp>
      <p:sp>
        <p:nvSpPr>
          <p:cNvPr id="14" name="Shape 12"/>
          <p:cNvSpPr/>
          <p:nvPr/>
        </p:nvSpPr>
        <p:spPr>
          <a:xfrm>
            <a:off x="457200" y="3108960"/>
            <a:ext cx="4023360" cy="1600200"/>
          </a:xfrm>
          <a:prstGeom prst="roundRect">
            <a:avLst>
              <a:gd name="adj" fmla="val 4571"/>
            </a:avLst>
          </a:prstGeom>
          <a:solidFill>
            <a:srgbClr val="222A35"/>
          </a:solidFill>
          <a:ln w="12700">
            <a:solidFill>
              <a:srgbClr val="222A35"/>
            </a:solidFill>
            <a:prstDash val="solid"/>
          </a:ln>
        </p:spPr>
      </p:sp>
      <p:sp>
        <p:nvSpPr>
          <p:cNvPr id="15" name="Shape 13"/>
          <p:cNvSpPr/>
          <p:nvPr/>
        </p:nvSpPr>
        <p:spPr>
          <a:xfrm>
            <a:off x="685800" y="3364992"/>
            <a:ext cx="365760" cy="365760"/>
          </a:xfrm>
          <a:prstGeom prst="ellipse">
            <a:avLst/>
          </a:prstGeom>
          <a:solidFill>
            <a:srgbClr val="E8B923"/>
          </a:solidFill>
          <a:ln w="12700">
            <a:solidFill>
              <a:srgbClr val="E8B923"/>
            </a:solidFill>
            <a:prstDash val="solid"/>
          </a:ln>
        </p:spPr>
      </p:sp>
      <p:sp>
        <p:nvSpPr>
          <p:cNvPr id="16" name="Text 14"/>
          <p:cNvSpPr txBox="1"/>
          <p:nvPr/>
        </p:nvSpPr>
        <p:spPr>
          <a:xfrm>
            <a:off x="685800" y="3364992"/>
            <a:ext cx="365760" cy="365760"/>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188720" y="3364992"/>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Checks its own work</a:t>
            </a:r>
            <a:endParaRPr lang="en-US" sz="1600" dirty="0"/>
          </a:p>
        </p:txBody>
      </p:sp>
      <p:sp>
        <p:nvSpPr>
          <p:cNvPr id="18" name="Text 16"/>
          <p:cNvSpPr txBox="1"/>
          <p:nvPr/>
        </p:nvSpPr>
        <p:spPr>
          <a:xfrm>
            <a:off x="1188720" y="3767328"/>
            <a:ext cx="3108960" cy="822960"/>
          </a:xfrm>
          <a:prstGeom prst="rect">
            <a:avLst/>
          </a:prstGeom>
          <a:noFill/>
          <a:ln/>
        </p:spPr>
        <p:txBody>
          <a:bodyPr wrap="square" lIns="0" tIns="0" rIns="0" bIns="0" rtlCol="0" anchor="t"/>
          <a:lstStyle/>
          <a:p>
            <a:pPr indent="0" marL="0">
              <a:buNone/>
            </a:pPr>
            <a:r>
              <a:rPr lang="en-US" sz="1300" dirty="0">
                <a:solidFill>
                  <a:srgbClr val="9AA7B5"/>
                </a:solidFill>
                <a:latin typeface="Calibri" pitchFamily="34" charset="0"/>
                <a:ea typeface="Calibri" pitchFamily="34" charset="-122"/>
                <a:cs typeface="Calibri" pitchFamily="34" charset="-120"/>
              </a:rPr>
              <a:t>A bump or a slip is noticed and fixed, so a job gets finished without a person watching.</a:t>
            </a:r>
            <a:endParaRPr lang="en-US" sz="1300" dirty="0"/>
          </a:p>
        </p:txBody>
      </p:sp>
      <p:sp>
        <p:nvSpPr>
          <p:cNvPr id="19" name="Shape 17"/>
          <p:cNvSpPr/>
          <p:nvPr/>
        </p:nvSpPr>
        <p:spPr>
          <a:xfrm>
            <a:off x="4663440" y="3108960"/>
            <a:ext cx="4023360" cy="1600200"/>
          </a:xfrm>
          <a:prstGeom prst="roundRect">
            <a:avLst>
              <a:gd name="adj" fmla="val 4571"/>
            </a:avLst>
          </a:prstGeom>
          <a:solidFill>
            <a:srgbClr val="222A35"/>
          </a:solidFill>
          <a:ln w="12700">
            <a:solidFill>
              <a:srgbClr val="222A35"/>
            </a:solidFill>
            <a:prstDash val="solid"/>
          </a:ln>
        </p:spPr>
      </p:sp>
      <p:sp>
        <p:nvSpPr>
          <p:cNvPr id="20" name="Shape 18"/>
          <p:cNvSpPr/>
          <p:nvPr/>
        </p:nvSpPr>
        <p:spPr>
          <a:xfrm>
            <a:off x="4892040" y="3364992"/>
            <a:ext cx="365760" cy="365760"/>
          </a:xfrm>
          <a:prstGeom prst="ellipse">
            <a:avLst/>
          </a:prstGeom>
          <a:solidFill>
            <a:srgbClr val="E8B923"/>
          </a:solidFill>
          <a:ln w="12700">
            <a:solidFill>
              <a:srgbClr val="E8B923"/>
            </a:solidFill>
            <a:prstDash val="solid"/>
          </a:ln>
        </p:spPr>
      </p:sp>
      <p:sp>
        <p:nvSpPr>
          <p:cNvPr id="21" name="Text 19"/>
          <p:cNvSpPr txBox="1"/>
          <p:nvPr/>
        </p:nvSpPr>
        <p:spPr>
          <a:xfrm>
            <a:off x="4892040" y="3364992"/>
            <a:ext cx="365760" cy="365760"/>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5394960" y="3364992"/>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Cheap to run and to teach</a:t>
            </a:r>
            <a:endParaRPr lang="en-US" sz="1600" dirty="0"/>
          </a:p>
        </p:txBody>
      </p:sp>
      <p:sp>
        <p:nvSpPr>
          <p:cNvPr id="23" name="Text 21"/>
          <p:cNvSpPr txBox="1"/>
          <p:nvPr/>
        </p:nvSpPr>
        <p:spPr>
          <a:xfrm>
            <a:off x="5394960" y="3767328"/>
            <a:ext cx="3108960" cy="822960"/>
          </a:xfrm>
          <a:prstGeom prst="rect">
            <a:avLst/>
          </a:prstGeom>
          <a:noFill/>
          <a:ln/>
        </p:spPr>
        <p:txBody>
          <a:bodyPr wrap="square" lIns="0" tIns="0" rIns="0" bIns="0" rtlCol="0" anchor="t"/>
          <a:lstStyle/>
          <a:p>
            <a:pPr indent="0" marL="0">
              <a:buNone/>
            </a:pPr>
            <a:r>
              <a:rPr lang="en-US" sz="1300" dirty="0">
                <a:solidFill>
                  <a:srgbClr val="9AA7B5"/>
                </a:solidFill>
                <a:latin typeface="Calibri" pitchFamily="34" charset="0"/>
                <a:ea typeface="Calibri" pitchFamily="34" charset="-122"/>
                <a:cs typeface="Calibri" pitchFamily="34" charset="-120"/>
              </a:rPr>
              <a:t>Runs on an ordinary Intel laptop with OpenVINO. Skills teach themselves from auto-recorded demos — no hand-collected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Observe, understand, plan, act, look again</a:t>
            </a:r>
            <a:endParaRPr lang="en-US" sz="3000" dirty="0"/>
          </a:p>
        </p:txBody>
      </p:sp>
      <p:sp>
        <p:nvSpPr>
          <p:cNvPr id="3" name="Shape 1"/>
          <p:cNvSpPr/>
          <p:nvPr/>
        </p:nvSpPr>
        <p:spPr>
          <a:xfrm>
            <a:off x="457200" y="1143000"/>
            <a:ext cx="384048" cy="384048"/>
          </a:xfrm>
          <a:prstGeom prst="ellipse">
            <a:avLst/>
          </a:prstGeom>
          <a:solidFill>
            <a:srgbClr val="E8B923"/>
          </a:solidFill>
          <a:ln w="12700">
            <a:solidFill>
              <a:srgbClr val="E8B923"/>
            </a:solidFill>
            <a:prstDash val="solid"/>
          </a:ln>
        </p:spPr>
      </p:sp>
      <p:sp>
        <p:nvSpPr>
          <p:cNvPr id="4" name="Text 2"/>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457200" y="1627632"/>
            <a:ext cx="15544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Observe</a:t>
            </a:r>
            <a:endParaRPr lang="en-US" sz="1500" dirty="0"/>
          </a:p>
        </p:txBody>
      </p:sp>
      <p:sp>
        <p:nvSpPr>
          <p:cNvPr id="6" name="Text 4"/>
          <p:cNvSpPr txBox="1"/>
          <p:nvPr/>
        </p:nvSpPr>
        <p:spPr>
          <a:xfrm>
            <a:off x="457200" y="1938528"/>
            <a:ext cx="1508760" cy="82296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overhead colour + depth camera finds every object</a:t>
            </a:r>
            <a:endParaRPr lang="en-US" sz="1200" dirty="0"/>
          </a:p>
        </p:txBody>
      </p:sp>
      <p:sp>
        <p:nvSpPr>
          <p:cNvPr id="7" name="Shape 5"/>
          <p:cNvSpPr/>
          <p:nvPr/>
        </p:nvSpPr>
        <p:spPr>
          <a:xfrm>
            <a:off x="2121408" y="1143000"/>
            <a:ext cx="384048" cy="384048"/>
          </a:xfrm>
          <a:prstGeom prst="ellipse">
            <a:avLst/>
          </a:prstGeom>
          <a:solidFill>
            <a:srgbClr val="E8B923"/>
          </a:solidFill>
          <a:ln w="12700">
            <a:solidFill>
              <a:srgbClr val="E8B923"/>
            </a:solidFill>
            <a:prstDash val="solid"/>
          </a:ln>
        </p:spPr>
      </p:sp>
      <p:sp>
        <p:nvSpPr>
          <p:cNvPr id="8" name="Text 6"/>
          <p:cNvSpPr txBox="1"/>
          <p:nvPr/>
        </p:nvSpPr>
        <p:spPr>
          <a:xfrm>
            <a:off x="2121408" y="1143000"/>
            <a:ext cx="384048" cy="384048"/>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2121408" y="1627632"/>
            <a:ext cx="15544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Understand</a:t>
            </a:r>
            <a:endParaRPr lang="en-US" sz="1500" dirty="0"/>
          </a:p>
        </p:txBody>
      </p:sp>
      <p:sp>
        <p:nvSpPr>
          <p:cNvPr id="10" name="Text 8"/>
          <p:cNvSpPr txBox="1"/>
          <p:nvPr/>
        </p:nvSpPr>
        <p:spPr>
          <a:xfrm>
            <a:off x="2121408" y="1938528"/>
            <a:ext cx="1508760" cy="82296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Qwen3-VL-4B on OpenVINO reads the command and the picture</a:t>
            </a:r>
            <a:endParaRPr lang="en-US" sz="1200" dirty="0"/>
          </a:p>
        </p:txBody>
      </p:sp>
      <p:sp>
        <p:nvSpPr>
          <p:cNvPr id="11" name="Shape 9"/>
          <p:cNvSpPr/>
          <p:nvPr/>
        </p:nvSpPr>
        <p:spPr>
          <a:xfrm>
            <a:off x="3785616" y="1143000"/>
            <a:ext cx="384048" cy="384048"/>
          </a:xfrm>
          <a:prstGeom prst="ellipse">
            <a:avLst/>
          </a:prstGeom>
          <a:solidFill>
            <a:srgbClr val="E8B923"/>
          </a:solidFill>
          <a:ln w="12700">
            <a:solidFill>
              <a:srgbClr val="E8B923"/>
            </a:solidFill>
            <a:prstDash val="solid"/>
          </a:ln>
        </p:spPr>
      </p:sp>
      <p:sp>
        <p:nvSpPr>
          <p:cNvPr id="12" name="Text 10"/>
          <p:cNvSpPr txBox="1"/>
          <p:nvPr/>
        </p:nvSpPr>
        <p:spPr>
          <a:xfrm>
            <a:off x="3785616" y="1143000"/>
            <a:ext cx="384048" cy="384048"/>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3785616" y="1627632"/>
            <a:ext cx="15544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Plan</a:t>
            </a:r>
            <a:endParaRPr lang="en-US" sz="1500" dirty="0"/>
          </a:p>
        </p:txBody>
      </p:sp>
      <p:sp>
        <p:nvSpPr>
          <p:cNvPr id="14" name="Text 12"/>
          <p:cNvSpPr txBox="1"/>
          <p:nvPr/>
        </p:nvSpPr>
        <p:spPr>
          <a:xfrm>
            <a:off x="3785616" y="1938528"/>
            <a:ext cx="1508760" cy="82296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which arm, hand-off or set-down swap, what first</a:t>
            </a:r>
            <a:endParaRPr lang="en-US" sz="1200" dirty="0"/>
          </a:p>
        </p:txBody>
      </p:sp>
      <p:sp>
        <p:nvSpPr>
          <p:cNvPr id="15" name="Shape 13"/>
          <p:cNvSpPr/>
          <p:nvPr/>
        </p:nvSpPr>
        <p:spPr>
          <a:xfrm>
            <a:off x="5449824" y="1143000"/>
            <a:ext cx="384048" cy="384048"/>
          </a:xfrm>
          <a:prstGeom prst="ellipse">
            <a:avLst/>
          </a:prstGeom>
          <a:solidFill>
            <a:srgbClr val="E8B923"/>
          </a:solidFill>
          <a:ln w="12700">
            <a:solidFill>
              <a:srgbClr val="E8B923"/>
            </a:solidFill>
            <a:prstDash val="solid"/>
          </a:ln>
        </p:spPr>
      </p:sp>
      <p:sp>
        <p:nvSpPr>
          <p:cNvPr id="16" name="Text 14"/>
          <p:cNvSpPr txBox="1"/>
          <p:nvPr/>
        </p:nvSpPr>
        <p:spPr>
          <a:xfrm>
            <a:off x="5449824" y="1143000"/>
            <a:ext cx="384048" cy="384048"/>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5449824" y="1627632"/>
            <a:ext cx="15544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Act</a:t>
            </a:r>
            <a:endParaRPr lang="en-US" sz="1500" dirty="0"/>
          </a:p>
        </p:txBody>
      </p:sp>
      <p:sp>
        <p:nvSpPr>
          <p:cNvPr id="18" name="Text 16"/>
          <p:cNvSpPr txBox="1"/>
          <p:nvPr/>
        </p:nvSpPr>
        <p:spPr>
          <a:xfrm>
            <a:off x="5449824" y="1938528"/>
            <a:ext cx="1508760" cy="82296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two SO-101 arms; a trained ACT policy for the mug</a:t>
            </a:r>
            <a:endParaRPr lang="en-US" sz="1200" dirty="0"/>
          </a:p>
        </p:txBody>
      </p:sp>
      <p:sp>
        <p:nvSpPr>
          <p:cNvPr id="19" name="Shape 17"/>
          <p:cNvSpPr/>
          <p:nvPr/>
        </p:nvSpPr>
        <p:spPr>
          <a:xfrm>
            <a:off x="7114032" y="1143000"/>
            <a:ext cx="384048" cy="384048"/>
          </a:xfrm>
          <a:prstGeom prst="ellipse">
            <a:avLst/>
          </a:prstGeom>
          <a:solidFill>
            <a:srgbClr val="E8B923"/>
          </a:solidFill>
          <a:ln w="12700">
            <a:solidFill>
              <a:srgbClr val="E8B923"/>
            </a:solidFill>
            <a:prstDash val="solid"/>
          </a:ln>
        </p:spPr>
      </p:sp>
      <p:sp>
        <p:nvSpPr>
          <p:cNvPr id="20" name="Text 18"/>
          <p:cNvSpPr txBox="1"/>
          <p:nvPr/>
        </p:nvSpPr>
        <p:spPr>
          <a:xfrm>
            <a:off x="7114032" y="1143000"/>
            <a:ext cx="384048" cy="384048"/>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5</a:t>
            </a:r>
            <a:endParaRPr lang="en-US" sz="1400" dirty="0"/>
          </a:p>
        </p:txBody>
      </p:sp>
      <p:sp>
        <p:nvSpPr>
          <p:cNvPr id="21" name="Text 19"/>
          <p:cNvSpPr txBox="1"/>
          <p:nvPr/>
        </p:nvSpPr>
        <p:spPr>
          <a:xfrm>
            <a:off x="7114032" y="1627632"/>
            <a:ext cx="15544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Look again</a:t>
            </a:r>
            <a:endParaRPr lang="en-US" sz="1500" dirty="0"/>
          </a:p>
        </p:txBody>
      </p:sp>
      <p:sp>
        <p:nvSpPr>
          <p:cNvPr id="22" name="Text 20"/>
          <p:cNvSpPr txBox="1"/>
          <p:nvPr/>
        </p:nvSpPr>
        <p:spPr>
          <a:xfrm>
            <a:off x="7114032" y="1938528"/>
            <a:ext cx="1508760" cy="82296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anything knocked out of place is fixed first</a:t>
            </a:r>
            <a:endParaRPr lang="en-US" sz="1200" dirty="0"/>
          </a:p>
        </p:txBody>
      </p:sp>
      <p:pic>
        <p:nvPicPr>
          <p:cNvPr id="23" name="Image 0" descr="C:\DriveSync\Creative\hackathons\ai-infra-summit-2026\submission\img\eyes.png">    </p:cNvPr>
          <p:cNvPicPr>
            <a:picLocks noChangeAspect="1"/>
          </p:cNvPicPr>
          <p:nvPr/>
        </p:nvPicPr>
        <p:blipFill>
          <a:blip r:embed="rId1"/>
          <a:stretch>
            <a:fillRect/>
          </a:stretch>
        </p:blipFill>
        <p:spPr>
          <a:xfrm>
            <a:off x="457200" y="2926080"/>
            <a:ext cx="2560320" cy="1920240"/>
          </a:xfrm>
          <a:prstGeom prst="rect">
            <a:avLst/>
          </a:prstGeom>
        </p:spPr>
      </p:pic>
      <p:sp>
        <p:nvSpPr>
          <p:cNvPr id="24" name="Text 21"/>
          <p:cNvSpPr txBox="1"/>
          <p:nvPr/>
        </p:nvSpPr>
        <p:spPr>
          <a:xfrm>
            <a:off x="3291840" y="2971800"/>
            <a:ext cx="5394960" cy="1828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What the robot sees</a:t>
            </a:r>
            <a:endParaRPr lang="en-US" sz="1600" dirty="0"/>
          </a:p>
          <a:p>
            <a:pPr indent="0" marL="0">
              <a:buNone/>
            </a:pPr>
            <a:r>
              <a:rPr lang="en-US" sz="1300" dirty="0">
                <a:solidFill>
                  <a:srgbClr val="9AA7B5"/>
                </a:solidFill>
                <a:latin typeface="Calibri" pitchFamily="34" charset="0"/>
                <a:ea typeface="Calibri" pitchFamily="34" charset="-122"/>
                <a:cs typeface="Calibri" pitchFamily="34" charset="-120"/>
              </a:rPr>
              <a:t>Objects are found from the height map and their shape, never from the simulator. On 20 random tables every object was found, 0.5 mm average error.</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300" dirty="0">
                <a:solidFill>
                  <a:srgbClr val="9AA7B5"/>
                </a:solidFill>
                <a:latin typeface="Calibri" pitchFamily="34" charset="0"/>
                <a:ea typeface="Calibri" pitchFamily="34" charset="-122"/>
                <a:cs typeface="Calibri" pitchFamily="34" charset="-120"/>
              </a:rPr>
              <a:t>Held items are tracked from the arm's own joint angles, like a real robot.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Teamwork, and it fixes its own mistakes</a:t>
            </a:r>
            <a:endParaRPr lang="en-US" sz="3000" dirty="0"/>
          </a:p>
        </p:txBody>
      </p:sp>
      <p:pic>
        <p:nvPicPr>
          <p:cNvPr id="3" name="Image 0" descr="C:\DriveSync\Creative\hackathons\ai-infra-summit-2026\submission\img\handoff_crop.png">    </p:cNvPr>
          <p:cNvPicPr>
            <a:picLocks noChangeAspect="1"/>
          </p:cNvPicPr>
          <p:nvPr/>
        </p:nvPicPr>
        <p:blipFill>
          <a:blip r:embed="rId1"/>
          <a:stretch>
            <a:fillRect/>
          </a:stretch>
        </p:blipFill>
        <p:spPr>
          <a:xfrm>
            <a:off x="457200" y="1188720"/>
            <a:ext cx="4023360" cy="2523744"/>
          </a:xfrm>
          <a:prstGeom prst="rect">
            <a:avLst/>
          </a:prstGeom>
        </p:spPr>
      </p:pic>
      <p:sp>
        <p:nvSpPr>
          <p:cNvPr id="4" name="Text 1"/>
          <p:cNvSpPr txBox="1"/>
          <p:nvPr/>
        </p:nvSpPr>
        <p:spPr>
          <a:xfrm>
            <a:off x="457200" y="3794760"/>
            <a:ext cx="4023360" cy="11887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Hand-off</a:t>
            </a:r>
            <a:endParaRPr lang="en-US" sz="1600" dirty="0"/>
          </a:p>
          <a:p>
            <a:pPr indent="0" marL="0">
              <a:buNone/>
            </a:pPr>
            <a:r>
              <a:rPr lang="en-US" sz="1300" dirty="0">
                <a:solidFill>
                  <a:srgbClr val="9AA7B5"/>
                </a:solidFill>
                <a:latin typeface="Calibri" pitchFamily="34" charset="0"/>
                <a:ea typeface="Calibri" pitchFamily="34" charset="-122"/>
                <a:cs typeface="Calibri" pitchFamily="34" charset="-120"/>
              </a:rPr>
              <a:t>The fork starts on arm B's side but belongs on arm A's. B carries it in, A moves up at the same time, lines up 1.5 mm away, grips, then B lets go.</a:t>
            </a:r>
            <a:endParaRPr lang="en-US" sz="1600" dirty="0"/>
          </a:p>
        </p:txBody>
      </p:sp>
      <p:pic>
        <p:nvPicPr>
          <p:cNvPr id="5" name="Image 1" descr="C:\DriveSync\Creative\hackathons\ai-infra-summit-2026\submission\img\recovery_bumped.png">    </p:cNvPr>
          <p:cNvPicPr>
            <a:picLocks noChangeAspect="1"/>
          </p:cNvPicPr>
          <p:nvPr/>
        </p:nvPicPr>
        <p:blipFill>
          <a:blip r:embed="rId2"/>
          <a:stretch>
            <a:fillRect/>
          </a:stretch>
        </p:blipFill>
        <p:spPr>
          <a:xfrm>
            <a:off x="4754880" y="1188720"/>
            <a:ext cx="1920240" cy="1444752"/>
          </a:xfrm>
          <a:prstGeom prst="rect">
            <a:avLst/>
          </a:prstGeom>
        </p:spPr>
      </p:pic>
      <p:pic>
        <p:nvPicPr>
          <p:cNvPr id="6" name="Image 2" descr="C:\DriveSync\Creative\hackathons\ai-infra-summit-2026\submission\img\recovery_fixed.png">    </p:cNvPr>
          <p:cNvPicPr>
            <a:picLocks noChangeAspect="1"/>
          </p:cNvPicPr>
          <p:nvPr/>
        </p:nvPicPr>
        <p:blipFill>
          <a:blip r:embed="rId3"/>
          <a:stretch>
            <a:fillRect/>
          </a:stretch>
        </p:blipFill>
        <p:spPr>
          <a:xfrm>
            <a:off x="6766560" y="1188720"/>
            <a:ext cx="1920240" cy="1444752"/>
          </a:xfrm>
          <a:prstGeom prst="rect">
            <a:avLst/>
          </a:prstGeom>
        </p:spPr>
      </p:pic>
      <p:sp>
        <p:nvSpPr>
          <p:cNvPr id="7" name="Text 2"/>
          <p:cNvSpPr txBox="1"/>
          <p:nvPr/>
        </p:nvSpPr>
        <p:spPr>
          <a:xfrm>
            <a:off x="4754880" y="2670048"/>
            <a:ext cx="1920240" cy="274320"/>
          </a:xfrm>
          <a:prstGeom prst="rect">
            <a:avLst/>
          </a:prstGeom>
          <a:noFill/>
          <a:ln/>
        </p:spPr>
        <p:txBody>
          <a:bodyPr wrap="square" lIns="0" tIns="0" rIns="0" bIns="0" rtlCol="0" anchor="ctr"/>
          <a:lstStyle/>
          <a:p>
            <a:pPr algn="ctr" indent="0" marL="0">
              <a:buNone/>
            </a:pPr>
            <a:r>
              <a:rPr lang="en-US" sz="1200" dirty="0">
                <a:solidFill>
                  <a:srgbClr val="F87171"/>
                </a:solidFill>
                <a:latin typeface="Calibri" pitchFamily="34" charset="0"/>
                <a:ea typeface="Calibri" pitchFamily="34" charset="-122"/>
                <a:cs typeface="Calibri" pitchFamily="34" charset="-120"/>
              </a:rPr>
              <a:t>knocked</a:t>
            </a:r>
            <a:endParaRPr lang="en-US" sz="1200" dirty="0"/>
          </a:p>
        </p:txBody>
      </p:sp>
      <p:sp>
        <p:nvSpPr>
          <p:cNvPr id="8" name="Text 3"/>
          <p:cNvSpPr txBox="1"/>
          <p:nvPr/>
        </p:nvSpPr>
        <p:spPr>
          <a:xfrm>
            <a:off x="6766560" y="2670048"/>
            <a:ext cx="1920240" cy="274320"/>
          </a:xfrm>
          <a:prstGeom prst="rect">
            <a:avLst/>
          </a:prstGeom>
          <a:noFill/>
          <a:ln/>
        </p:spPr>
        <p:txBody>
          <a:bodyPr wrap="square" lIns="0" tIns="0" rIns="0" bIns="0" rtlCol="0" anchor="ctr"/>
          <a:lstStyle/>
          <a:p>
            <a:pPr algn="ctr" indent="0" marL="0">
              <a:buNone/>
            </a:pPr>
            <a:r>
              <a:rPr lang="en-US" sz="1200" dirty="0">
                <a:solidFill>
                  <a:srgbClr val="4ADE80"/>
                </a:solidFill>
                <a:latin typeface="Calibri" pitchFamily="34" charset="0"/>
                <a:ea typeface="Calibri" pitchFamily="34" charset="-122"/>
                <a:cs typeface="Calibri" pitchFamily="34" charset="-120"/>
              </a:rPr>
              <a:t>seen and fixed</a:t>
            </a:r>
            <a:endParaRPr lang="en-US" sz="1200" dirty="0"/>
          </a:p>
        </p:txBody>
      </p:sp>
      <p:sp>
        <p:nvSpPr>
          <p:cNvPr id="9" name="Text 4"/>
          <p:cNvSpPr txBox="1"/>
          <p:nvPr/>
        </p:nvSpPr>
        <p:spPr>
          <a:xfrm>
            <a:off x="4754880" y="3063240"/>
            <a:ext cx="3931920" cy="1463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Recovery</a:t>
            </a:r>
            <a:endParaRPr lang="en-US" sz="1600" dirty="0"/>
          </a:p>
          <a:p>
            <a:pPr indent="0" marL="0">
              <a:buNone/>
            </a:pPr>
            <a:r>
              <a:rPr lang="en-US" sz="1300" dirty="0">
                <a:solidFill>
                  <a:srgbClr val="9AA7B5"/>
                </a:solidFill>
                <a:latin typeface="Calibri" pitchFamily="34" charset="0"/>
                <a:ea typeface="Calibri" pitchFamily="34" charset="-122"/>
                <a:cs typeface="Calibri" pitchFamily="34" charset="-120"/>
              </a:rPr>
              <a:t>Mid-task, the plate is knocked 6 cm. After the next item the robot looks at everything it already placed, sees the plate has moved, and puts it back before carrying 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Our own teacher trained the policy</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9AA7B5"/>
                </a:solidFill>
                <a:latin typeface="Calibri" pitchFamily="34" charset="0"/>
                <a:ea typeface="Calibri" pitchFamily="34" charset="-122"/>
                <a:cs typeface="Calibri" pitchFamily="34" charset="-120"/>
              </a:rPr>
              <a:t>LeRobot ACT on a laptop CPU · 1,219 demonstrations recorded automatically · success on unseen tables</a:t>
            </a:r>
            <a:endParaRPr lang="en-US" sz="1400" dirty="0"/>
          </a:p>
        </p:txBody>
      </p:sp>
      <p:graphicFrame>
        <p:nvGraphicFramePr>
          <p:cNvPr id="4" name="Chart 0" descr=""/>
          <p:cNvGraphicFramePr/>
          <p:nvPr/>
        </p:nvGraphicFramePr>
        <p:xfrm>
          <a:off x="365760" y="1234440"/>
          <a:ext cx="48463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325880"/>
            <a:ext cx="347472" cy="347472"/>
          </a:xfrm>
          <a:prstGeom prst="ellipse">
            <a:avLst/>
          </a:prstGeom>
          <a:solidFill>
            <a:srgbClr val="E8B923"/>
          </a:solidFill>
          <a:ln w="12700">
            <a:solidFill>
              <a:srgbClr val="E8B923"/>
            </a:solidFill>
            <a:prstDash val="solid"/>
          </a:ln>
        </p:spPr>
      </p:sp>
      <p:sp>
        <p:nvSpPr>
          <p:cNvPr id="6" name="Text 3"/>
          <p:cNvSpPr txBox="1"/>
          <p:nvPr/>
        </p:nvSpPr>
        <p:spPr>
          <a:xfrm>
            <a:off x="5486400" y="1325880"/>
            <a:ext cx="347472" cy="347472"/>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5989320" y="1307592"/>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teacher must be consistent</a:t>
            </a:r>
            <a:endParaRPr lang="en-US" sz="1400" dirty="0"/>
          </a:p>
        </p:txBody>
      </p:sp>
      <p:sp>
        <p:nvSpPr>
          <p:cNvPr id="8" name="Text 5"/>
          <p:cNvSpPr txBox="1"/>
          <p:nvPr/>
        </p:nvSpPr>
        <p:spPr>
          <a:xfrm>
            <a:off x="5989320" y="1627632"/>
            <a:ext cx="2834640" cy="68580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picking the best of 12 grip angles looked random to the student — one fixed rule</a:t>
            </a:r>
            <a:endParaRPr lang="en-US" sz="1200" dirty="0"/>
          </a:p>
        </p:txBody>
      </p:sp>
      <p:sp>
        <p:nvSpPr>
          <p:cNvPr id="9" name="Shape 6"/>
          <p:cNvSpPr/>
          <p:nvPr/>
        </p:nvSpPr>
        <p:spPr>
          <a:xfrm>
            <a:off x="5486400" y="2514600"/>
            <a:ext cx="347472" cy="347472"/>
          </a:xfrm>
          <a:prstGeom prst="ellipse">
            <a:avLst/>
          </a:prstGeom>
          <a:solidFill>
            <a:srgbClr val="E8B923"/>
          </a:solidFill>
          <a:ln w="12700">
            <a:solidFill>
              <a:srgbClr val="E8B923"/>
            </a:solidFill>
            <a:prstDash val="solid"/>
          </a:ln>
        </p:spPr>
      </p:sp>
      <p:sp>
        <p:nvSpPr>
          <p:cNvPr id="10" name="Text 7"/>
          <p:cNvSpPr txBox="1"/>
          <p:nvPr/>
        </p:nvSpPr>
        <p:spPr>
          <a:xfrm>
            <a:off x="5486400" y="2514600"/>
            <a:ext cx="347472" cy="347472"/>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5989320" y="2496312"/>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Targets, not small moves</a:t>
            </a:r>
            <a:endParaRPr lang="en-US" sz="1400" dirty="0"/>
          </a:p>
        </p:txBody>
      </p:sp>
      <p:sp>
        <p:nvSpPr>
          <p:cNvPr id="12" name="Text 9"/>
          <p:cNvSpPr txBox="1"/>
          <p:nvPr/>
        </p:nvSpPr>
        <p:spPr>
          <a:xfrm>
            <a:off x="5989320" y="2816352"/>
            <a:ext cx="2834640" cy="68580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tiny per-step errors added up to centimetres</a:t>
            </a:r>
            <a:endParaRPr lang="en-US" sz="1200" dirty="0"/>
          </a:p>
        </p:txBody>
      </p:sp>
      <p:sp>
        <p:nvSpPr>
          <p:cNvPr id="13" name="Shape 10"/>
          <p:cNvSpPr/>
          <p:nvPr/>
        </p:nvSpPr>
        <p:spPr>
          <a:xfrm>
            <a:off x="5486400" y="3703320"/>
            <a:ext cx="347472" cy="347472"/>
          </a:xfrm>
          <a:prstGeom prst="ellipse">
            <a:avLst/>
          </a:prstGeom>
          <a:solidFill>
            <a:srgbClr val="E8B923"/>
          </a:solidFill>
          <a:ln w="12700">
            <a:solidFill>
              <a:srgbClr val="E8B923"/>
            </a:solidFill>
            <a:prstDash val="solid"/>
          </a:ln>
        </p:spPr>
      </p:sp>
      <p:sp>
        <p:nvSpPr>
          <p:cNvPr id="14" name="Text 11"/>
          <p:cNvSpPr txBox="1"/>
          <p:nvPr/>
        </p:nvSpPr>
        <p:spPr>
          <a:xfrm>
            <a:off x="5486400" y="3703320"/>
            <a:ext cx="347472" cy="347472"/>
          </a:xfrm>
          <a:prstGeom prst="rect">
            <a:avLst/>
          </a:prstGeom>
          <a:noFill/>
          <a:ln/>
        </p:spPr>
        <p:txBody>
          <a:bodyPr wrap="square" lIns="0" tIns="0" rIns="0" bIns="0" rtlCol="0" anchor="ctr"/>
          <a:lstStyle/>
          <a:p>
            <a:pPr algn="ctr" indent="0" marL="0">
              <a:buNone/>
            </a:pPr>
            <a:r>
              <a:rPr lang="en-US" sz="1400" b="1" dirty="0">
                <a:solidFill>
                  <a:srgbClr val="161B22"/>
                </a:solidFill>
                <a:latin typeface="Arial" pitchFamily="34" charset="0"/>
                <a:ea typeface="Arial" pitchFamily="34" charset="-122"/>
                <a:cs typeface="Arial" pitchFamily="34" charset="-120"/>
              </a:rPr>
              <a:t>3</a:t>
            </a:r>
            <a:endParaRPr lang="en-US" sz="1400" dirty="0"/>
          </a:p>
        </p:txBody>
      </p:sp>
      <p:sp>
        <p:nvSpPr>
          <p:cNvPr id="15" name="Text 12"/>
          <p:cNvSpPr txBox="1"/>
          <p:nvPr/>
        </p:nvSpPr>
        <p:spPr>
          <a:xfrm>
            <a:off x="5989320" y="3685032"/>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Think in the mug's frame</a:t>
            </a:r>
            <a:endParaRPr lang="en-US" sz="1400" dirty="0"/>
          </a:p>
        </p:txBody>
      </p:sp>
      <p:sp>
        <p:nvSpPr>
          <p:cNvPr id="16" name="Text 13"/>
          <p:cNvSpPr txBox="1"/>
          <p:nvPr/>
        </p:nvSpPr>
        <p:spPr>
          <a:xfrm>
            <a:off x="5989320" y="4005072"/>
            <a:ext cx="2834640" cy="68580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"grip beside the mug" becomes the same move every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OpenVINO on all three Intel chips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9AA7B5"/>
                </a:solidFill>
                <a:latin typeface="Calibri" pitchFamily="34" charset="0"/>
                <a:ea typeface="Calibri" pitchFamily="34" charset="-122"/>
                <a:cs typeface="Calibri" pitchFamily="34" charset="-120"/>
              </a:rPr>
              <a:t>Intel Core Ultra 7 155H · CPU + Arc iGPU + AI Boost NPU · OpenVINO 2026.3.1</a:t>
            </a:r>
            <a:endParaRPr lang="en-US" sz="1400" dirty="0"/>
          </a:p>
        </p:txBody>
      </p:sp>
      <p:graphicFrame>
        <p:nvGraphicFramePr>
          <p:cNvPr id="4" name="Chart 0" descr=""/>
          <p:cNvGraphicFramePr/>
          <p:nvPr/>
        </p:nvGraphicFramePr>
        <p:xfrm>
          <a:off x="365760" y="123444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577840" y="1280160"/>
            <a:ext cx="3200400" cy="457200"/>
          </a:xfrm>
          <a:prstGeom prst="rect">
            <a:avLst/>
          </a:prstGeom>
          <a:noFill/>
          <a:ln/>
        </p:spPr>
        <p:txBody>
          <a:bodyPr wrap="square" lIns="0" tIns="0" rIns="0" bIns="0" rtlCol="0" anchor="ctr"/>
          <a:lstStyle/>
          <a:p>
            <a:pPr indent="0" marL="0">
              <a:buNone/>
            </a:pPr>
            <a:r>
              <a:rPr lang="en-US" sz="2600" b="1" dirty="0">
                <a:solidFill>
                  <a:srgbClr val="E8B923"/>
                </a:solidFill>
                <a:latin typeface="Arial" pitchFamily="34" charset="0"/>
                <a:ea typeface="Arial" pitchFamily="34" charset="-122"/>
                <a:cs typeface="Arial" pitchFamily="34" charset="-120"/>
              </a:rPr>
              <a:t>2.9×</a:t>
            </a:r>
            <a:endParaRPr lang="en-US" sz="2600" dirty="0"/>
          </a:p>
        </p:txBody>
      </p:sp>
      <p:sp>
        <p:nvSpPr>
          <p:cNvPr id="6" name="Text 3"/>
          <p:cNvSpPr txBox="1"/>
          <p:nvPr/>
        </p:nvSpPr>
        <p:spPr>
          <a:xfrm>
            <a:off x="5577840" y="1737360"/>
            <a:ext cx="3200400" cy="64008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faster policy on CPU with OpenVINO — task success unchanged at every precision (9–10/10)</a:t>
            </a:r>
            <a:endParaRPr lang="en-US" sz="1200" dirty="0"/>
          </a:p>
        </p:txBody>
      </p:sp>
      <p:sp>
        <p:nvSpPr>
          <p:cNvPr id="7" name="Text 4"/>
          <p:cNvSpPr txBox="1"/>
          <p:nvPr/>
        </p:nvSpPr>
        <p:spPr>
          <a:xfrm>
            <a:off x="5577840" y="2468880"/>
            <a:ext cx="3200400" cy="457200"/>
          </a:xfrm>
          <a:prstGeom prst="rect">
            <a:avLst/>
          </a:prstGeom>
          <a:noFill/>
          <a:ln/>
        </p:spPr>
        <p:txBody>
          <a:bodyPr wrap="square" lIns="0" tIns="0" rIns="0" bIns="0" rtlCol="0" anchor="ctr"/>
          <a:lstStyle/>
          <a:p>
            <a:pPr indent="0" marL="0">
              <a:buNone/>
            </a:pPr>
            <a:r>
              <a:rPr lang="en-US" sz="2600" b="1" dirty="0">
                <a:solidFill>
                  <a:srgbClr val="E8B923"/>
                </a:solidFill>
                <a:latin typeface="Arial" pitchFamily="34" charset="0"/>
                <a:ea typeface="Arial" pitchFamily="34" charset="-122"/>
                <a:cs typeface="Arial" pitchFamily="34" charset="-120"/>
              </a:rPr>
              <a:t>0.90 ms</a:t>
            </a:r>
            <a:endParaRPr lang="en-US" sz="2600" dirty="0"/>
          </a:p>
        </p:txBody>
      </p:sp>
      <p:sp>
        <p:nvSpPr>
          <p:cNvPr id="8" name="Text 5"/>
          <p:cNvSpPr txBox="1"/>
          <p:nvPr/>
        </p:nvSpPr>
        <p:spPr>
          <a:xfrm>
            <a:off x="5577840" y="2926080"/>
            <a:ext cx="3200400" cy="64008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for the whole policy on the AI Boost NPU at FP32; at FP16 it places 10/10 mugs</a:t>
            </a:r>
            <a:endParaRPr lang="en-US" sz="1200" dirty="0"/>
          </a:p>
        </p:txBody>
      </p:sp>
      <p:sp>
        <p:nvSpPr>
          <p:cNvPr id="9" name="Text 6"/>
          <p:cNvSpPr txBox="1"/>
          <p:nvPr/>
        </p:nvSpPr>
        <p:spPr>
          <a:xfrm>
            <a:off x="5577840" y="3657600"/>
            <a:ext cx="3200400" cy="457200"/>
          </a:xfrm>
          <a:prstGeom prst="rect">
            <a:avLst/>
          </a:prstGeom>
          <a:noFill/>
          <a:ln/>
        </p:spPr>
        <p:txBody>
          <a:bodyPr wrap="square" lIns="0" tIns="0" rIns="0" bIns="0" rtlCol="0" anchor="ctr"/>
          <a:lstStyle/>
          <a:p>
            <a:pPr indent="0" marL="0">
              <a:buNone/>
            </a:pPr>
            <a:r>
              <a:rPr lang="en-US" sz="2600" b="1" dirty="0">
                <a:solidFill>
                  <a:srgbClr val="E8B923"/>
                </a:solidFill>
                <a:latin typeface="Arial" pitchFamily="34" charset="0"/>
                <a:ea typeface="Arial" pitchFamily="34" charset="-122"/>
                <a:cs typeface="Arial" pitchFamily="34" charset="-120"/>
              </a:rPr>
              <a:t>1.3 s</a:t>
            </a:r>
            <a:endParaRPr lang="en-US" sz="2600" dirty="0"/>
          </a:p>
        </p:txBody>
      </p:sp>
      <p:sp>
        <p:nvSpPr>
          <p:cNvPr id="10" name="Text 7"/>
          <p:cNvSpPr txBox="1"/>
          <p:nvPr/>
        </p:nvSpPr>
        <p:spPr>
          <a:xfrm>
            <a:off x="5577840" y="4114800"/>
            <a:ext cx="3200400" cy="640080"/>
          </a:xfrm>
          <a:prstGeom prst="rect">
            <a:avLst/>
          </a:prstGeom>
          <a:noFill/>
          <a:ln/>
        </p:spPr>
        <p:txBody>
          <a:bodyPr wrap="square" lIns="0" tIns="0" rIns="0" bIns="0" rtlCol="0" anchor="t"/>
          <a:lstStyle/>
          <a:p>
            <a:pPr indent="0" marL="0">
              <a:buNone/>
            </a:pPr>
            <a:r>
              <a:rPr lang="en-US" sz="1200" dirty="0">
                <a:solidFill>
                  <a:srgbClr val="9AA7B5"/>
                </a:solidFill>
                <a:latin typeface="Calibri" pitchFamily="34" charset="0"/>
                <a:ea typeface="Calibri" pitchFamily="34" charset="-122"/>
                <a:cs typeface="Calibri" pitchFamily="34" charset="-120"/>
              </a:rPr>
              <a:t>to read a command on the Arc iGPU — 2.8× the CPU, down from 30 s originally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Open, reproducible, honest</a:t>
            </a:r>
            <a:endParaRPr lang="en-US" sz="3000" dirty="0"/>
          </a:p>
        </p:txBody>
      </p:sp>
      <p:sp>
        <p:nvSpPr>
          <p:cNvPr id="3" name="Text 1"/>
          <p:cNvSpPr txBox="1"/>
          <p:nvPr/>
        </p:nvSpPr>
        <p:spPr>
          <a:xfrm>
            <a:off x="457200" y="1188720"/>
            <a:ext cx="40233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What we'd do next</a:t>
            </a:r>
            <a:endParaRPr lang="en-US" sz="1300" dirty="0"/>
          </a:p>
          <a:p>
            <a:pPr marL="342900" indent="-342900">
              <a:spcAft>
                <a:spcPts val="600"/>
              </a:spcAft>
              <a:buSzPct val="100000"/>
              <a:buChar char="•"/>
            </a:pPr>
            <a:r>
              <a:rPr lang="en-US" sz="1300" dirty="0">
                <a:solidFill>
                  <a:srgbClr val="9AA7B5"/>
                </a:solidFill>
                <a:latin typeface="Calibri" pitchFamily="34" charset="0"/>
                <a:ea typeface="Calibri" pitchFamily="34" charset="-122"/>
                <a:cs typeface="Calibri" pitchFamily="34" charset="-120"/>
              </a:rPr>
              <a:t>Get the vision-language model onto the NPU — today OpenVINO's NPU compiler rejects it</a:t>
            </a:r>
            <a:endParaRPr lang="en-US" sz="1300" dirty="0"/>
          </a:p>
          <a:p>
            <a:pPr marL="342900" indent="-342900">
              <a:spcAft>
                <a:spcPts val="600"/>
              </a:spcAft>
              <a:buSzPct val="100000"/>
              <a:buChar char="•"/>
            </a:pPr>
            <a:r>
              <a:rPr lang="en-US" sz="1300" dirty="0">
                <a:solidFill>
                  <a:srgbClr val="9AA7B5"/>
                </a:solidFill>
                <a:latin typeface="Calibri" pitchFamily="34" charset="0"/>
                <a:ea typeface="Calibri" pitchFamily="34" charset="-122"/>
                <a:cs typeface="Calibri" pitchFamily="34" charset="-120"/>
              </a:rPr>
              <a:t>Train policies for the hand-off too; today most skills are the scripted teacher</a:t>
            </a:r>
            <a:endParaRPr lang="en-US" sz="1300" dirty="0"/>
          </a:p>
          <a:p>
            <a:pPr marL="342900" indent="-342900">
              <a:spcAft>
                <a:spcPts val="600"/>
              </a:spcAft>
              <a:buSzPct val="100000"/>
              <a:buChar char="•"/>
            </a:pPr>
            <a:r>
              <a:rPr lang="en-US" sz="1300" dirty="0">
                <a:solidFill>
                  <a:srgbClr val="9AA7B5"/>
                </a:solidFill>
                <a:latin typeface="Calibri" pitchFamily="34" charset="0"/>
                <a:ea typeface="Calibri" pitchFamily="34" charset="-122"/>
                <a:cs typeface="Calibri" pitchFamily="34" charset="-120"/>
              </a:rPr>
              <a:t>Add the drawer and pouring from Intel's example task</a:t>
            </a:r>
            <a:endParaRPr lang="en-US" sz="1300" dirty="0"/>
          </a:p>
        </p:txBody>
      </p:sp>
      <p:sp>
        <p:nvSpPr>
          <p:cNvPr id="4" name="Shape 2"/>
          <p:cNvSpPr/>
          <p:nvPr/>
        </p:nvSpPr>
        <p:spPr>
          <a:xfrm>
            <a:off x="4754880" y="1188720"/>
            <a:ext cx="3931920" cy="1920240"/>
          </a:xfrm>
          <a:prstGeom prst="roundRect">
            <a:avLst>
              <a:gd name="adj" fmla="val 3810"/>
            </a:avLst>
          </a:prstGeom>
          <a:solidFill>
            <a:srgbClr val="222A35"/>
          </a:solidFill>
          <a:ln w="12700">
            <a:solidFill>
              <a:srgbClr val="222A35"/>
            </a:solidFill>
            <a:prstDash val="solid"/>
          </a:ln>
        </p:spPr>
      </p:sp>
      <p:sp>
        <p:nvSpPr>
          <p:cNvPr id="5" name="Text 3"/>
          <p:cNvSpPr txBox="1"/>
          <p:nvPr/>
        </p:nvSpPr>
        <p:spPr>
          <a:xfrm>
            <a:off x="4983480" y="1325880"/>
            <a:ext cx="3566160" cy="169164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Arial" pitchFamily="34" charset="0"/>
                <a:ea typeface="Arial" pitchFamily="34" charset="-122"/>
                <a:cs typeface="Arial" pitchFamily="34" charset="-120"/>
              </a:rPr>
              <a:t>Try it</a:t>
            </a:r>
            <a:endParaRPr lang="en-US" sz="1600" dirty="0"/>
          </a:p>
          <a:p>
            <a:pPr indent="0" marL="0">
              <a:spcAft>
                <a:spcPts val="400"/>
              </a:spcAft>
              <a:buNone/>
            </a:pPr>
            <a:r>
              <a:rPr lang="en-US" sz="1100" dirty="0">
                <a:solidFill>
                  <a:srgbClr val="E8B923"/>
                </a:solidFill>
                <a:latin typeface="Courier New" pitchFamily="34" charset="0"/>
                <a:ea typeface="Courier New" pitchFamily="34" charset="-122"/>
                <a:cs typeface="Courier New" pitchFamily="34" charset="-120"/>
              </a:rPr>
              <a:t>python brain/run.py "set the table"</a:t>
            </a:r>
            <a:endParaRPr lang="en-US" sz="1600" dirty="0"/>
          </a:p>
          <a:p>
            <a:pPr indent="0" marL="0">
              <a:spcAft>
                <a:spcPts val="400"/>
              </a:spcAft>
              <a:buNone/>
            </a:pPr>
            <a:r>
              <a:rPr lang="en-US" sz="1100" dirty="0">
                <a:solidFill>
                  <a:srgbClr val="E8B923"/>
                </a:solidFill>
                <a:latin typeface="Courier New" pitchFamily="34" charset="0"/>
                <a:ea typeface="Courier New" pitchFamily="34" charset="-122"/>
                <a:cs typeface="Courier New" pitchFamily="34" charset="-120"/>
              </a:rPr>
              <a:t>python brain/evaluate.py --seeds 10 --hard</a:t>
            </a:r>
            <a:endParaRPr lang="en-US" sz="1600" dirty="0"/>
          </a:p>
          <a:p>
            <a:pPr indent="0" marL="0">
              <a:spcAft>
                <a:spcPts val="400"/>
              </a:spcAft>
              <a:buNone/>
            </a:pPr>
            <a:r>
              <a:rPr lang="en-US" sz="1100" dirty="0">
                <a:solidFill>
                  <a:srgbClr val="E8B923"/>
                </a:solidFill>
                <a:latin typeface="Courier New" pitchFamily="34" charset="0"/>
                <a:ea typeface="Courier New" pitchFamily="34" charset="-122"/>
                <a:cs typeface="Courier New" pitchFamily="34" charset="-120"/>
              </a:rPr>
              <a:t>python bench/benchmark.py</a:t>
            </a:r>
            <a:endParaRPr lang="en-US" sz="1600" dirty="0"/>
          </a:p>
          <a:p>
            <a:pPr indent="0" marL="0">
              <a:spcAft>
                <a:spcPts val="400"/>
              </a:spcAft>
              <a:buNone/>
            </a:pPr>
            <a:r>
              <a:rPr lang="en-US" sz="800" dirty="0">
                <a:solidFill>
                  <a:srgbClr val="000000"/>
                </a:solidFill>
              </a:rPr>
              <a:t> </a:t>
            </a:r>
            <a:endParaRPr lang="en-US" sz="16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github.com/PegBitStudio/two-arm-table-setter</a:t>
            </a:r>
            <a:endParaRPr lang="en-US" sz="1600" dirty="0"/>
          </a:p>
        </p:txBody>
      </p:sp>
      <p:sp>
        <p:nvSpPr>
          <p:cNvPr id="6" name="Text 4"/>
          <p:cNvSpPr txBox="1"/>
          <p:nvPr/>
        </p:nvSpPr>
        <p:spPr>
          <a:xfrm>
            <a:off x="457200" y="3611880"/>
            <a:ext cx="8229600" cy="548640"/>
          </a:xfrm>
          <a:prstGeom prst="rect">
            <a:avLst/>
          </a:prstGeom>
          <a:noFill/>
          <a:ln/>
        </p:spPr>
        <p:txBody>
          <a:bodyPr wrap="square" lIns="0" tIns="0" rIns="0" bIns="0" rtlCol="0" anchor="ctr"/>
          <a:lstStyle/>
          <a:p>
            <a:pPr indent="0" marL="0">
              <a:buNone/>
            </a:pPr>
            <a:r>
              <a:rPr lang="en-US" sz="1300" dirty="0">
                <a:solidFill>
                  <a:srgbClr val="9AA7B5"/>
                </a:solidFill>
                <a:latin typeface="Calibri" pitchFamily="34" charset="0"/>
                <a:ea typeface="Calibri" pitchFamily="34" charset="-122"/>
                <a:cs typeface="Calibri" pitchFamily="34" charset="-120"/>
              </a:rPr>
              <a:t>Every scene is seeded and every number here is reproducible from one command. MIT licence. Built with MuJoCo, LeRobot, OpenVINO and Qwen3-VL.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Two-Arm Table Setter</dc:title>
  <dc:subject>PptxGenJS Presentation</dc:subject>
  <dc:creator>PptxGenJS</dc:creator>
  <cp:lastModifiedBy>PptxGenJS</cp:lastModifiedBy>
  <cp:revision>1</cp:revision>
  <dcterms:created xsi:type="dcterms:W3CDTF">2026-09-16T14:50:51Z</dcterms:created>
  <dcterms:modified xsi:type="dcterms:W3CDTF">2026-09-16T14:50:51Z</dcterms:modified>
</cp:coreProperties>
</file>